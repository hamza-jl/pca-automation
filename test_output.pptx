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0"/>
            <a:ext cx="18288000" cy="68580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AEA8"/>
                </a:solidFill>
                <a:latin typeface="Calibri"/>
              </a:rPr>
              <a:t>Devoteam | AI-driven tech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Actualisation et Maintien du Plan de Continuité d'Activité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CAC4"/>
                </a:solidFill>
                <a:latin typeface="Calibri"/>
              </a:rPr>
              <a:t>de Gatassurances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274320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Rapport BIA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AC4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320040" cy="32004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814"/>
                </a:solidFill>
                <a:latin typeface="Calibri"/>
              </a:rPr>
              <a:t>Résumé Exécutif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40280"/>
            <a:ext cx="320040" cy="32004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814"/>
                </a:solidFill>
                <a:latin typeface="Calibri"/>
              </a:rPr>
              <a:t>Zoom sur la Reprise des Activités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26080"/>
            <a:ext cx="320040" cy="32004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8346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814"/>
                </a:solidFill>
                <a:latin typeface="Calibri"/>
              </a:rPr>
              <a:t>Tableau des Impacts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11880"/>
            <a:ext cx="320040" cy="32004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204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814"/>
                </a:solidFill>
                <a:latin typeface="Calibri"/>
              </a:rPr>
              <a:t>Reprise actualisée des applications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79"/>
            <a:ext cx="320040" cy="32004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2062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814"/>
                </a:solidFill>
                <a:latin typeface="Calibri"/>
              </a:rPr>
              <a:t>Collaborateurs clés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983479"/>
            <a:ext cx="320040" cy="32004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8920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814"/>
                </a:solidFill>
                <a:latin typeface="Calibri"/>
              </a:rPr>
              <a:t>Documents critiques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669279"/>
            <a:ext cx="320040" cy="32004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5778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814"/>
                </a:solidFill>
                <a:latin typeface="Calibri"/>
              </a:rPr>
              <a:t>Équipements nécessaires à la reprise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AEA8"/>
                </a:solidFill>
                <a:latin typeface="Calibri"/>
              </a:rPr>
              <a:t>AI-driven tech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Résumé Exécutif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8961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34E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des Activités Exprimées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82296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1188720"/>
            <a:ext cx="6858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1280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852"/>
                </a:solidFill>
                <a:latin typeface="Calibri"/>
              </a:rPr>
              <a:t>Activités nécessitant une reprise à J+1 ou avant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1737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8394C"/>
                </a:solidFill>
                <a:latin typeface="Calibr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651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852"/>
                </a:solidFill>
                <a:latin typeface="Calibri"/>
              </a:rPr>
              <a:t>soit 48 % du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814"/>
                </a:solidFill>
                <a:latin typeface="Calibri"/>
              </a:rPr>
              <a:t>Total activités recensées : 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0080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814"/>
                </a:solidFill>
                <a:latin typeface="Calibri"/>
              </a:rPr>
              <a:t>Répartition par DMIA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858000"/>
            <a:ext cx="2724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6876288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6858000"/>
            <a:ext cx="2724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6876288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Nb activités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6858000"/>
            <a:ext cx="2724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6876288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% du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7223760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724204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7223760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3" y="724204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7223760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724204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7571232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758952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7571232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2463" y="758952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7571232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758952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24 %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7918704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793699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7918704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2463" y="793699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7918704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793699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22 %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266176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828446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8266176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12463" y="828446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8266176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828446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8613648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" y="863193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8613648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12463" y="863193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8613648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55664" y="863193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961120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" y="897940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8961120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12463" y="897940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8961120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55664" y="897940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9308592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" y="932688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9308592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12463" y="932688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9308592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55664" y="932688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23 %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9656064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9264" y="967435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0" y="9656064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12463" y="967435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9656064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55664" y="967435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" y="10003536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" y="1002182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0" y="10003536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12463" y="1002182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10003536"/>
            <a:ext cx="2724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55664" y="1002182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10351008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" y="1036929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0" y="10351008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12463" y="1036929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10351008"/>
            <a:ext cx="2724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55664" y="1036929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Zoom sur les structures et applications critiques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814"/>
                </a:solidFill>
                <a:latin typeface="Calibri"/>
              </a:rPr>
              <a:t>Structures critiques (H0 – J+1) : 7 structures, 39 activités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9125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9034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041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Nb activités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901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9125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121408"/>
            <a:ext cx="9015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132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992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450591"/>
            <a:ext cx="9125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2468879"/>
            <a:ext cx="9015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2450591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13264" y="246887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0" y="2450591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99264" y="246887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798063"/>
            <a:ext cx="9125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2816351"/>
            <a:ext cx="9015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2798063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13264" y="281635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344400" y="2798063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99264" y="281635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145536"/>
            <a:ext cx="9125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3163824"/>
            <a:ext cx="9015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314553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13264" y="316382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4400" y="314553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99264" y="316382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493008"/>
            <a:ext cx="9125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3511296"/>
            <a:ext cx="9015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Inspection Générale du Réseau et Contrôle Conformité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349300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13264" y="351129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4400" y="349300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99264" y="351129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3840479"/>
            <a:ext cx="9125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" y="3858767"/>
            <a:ext cx="9015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3840479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13264" y="3858767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4400" y="3840479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399264" y="3858767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4187952"/>
            <a:ext cx="9125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" y="4206240"/>
            <a:ext cx="9015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Service Clients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0" y="41879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13264" y="42062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4400" y="41879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399264" y="42062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AEA8"/>
                </a:solidFill>
                <a:latin typeface="Calibri"/>
              </a:rPr>
              <a:t>AI-driven tech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Zoom sur la Reprise des Activités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8961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34E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H+2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1 Structures  ·  1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automobile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7 Structures  ·  20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Inspection Générale du Réseau et Contrôle Conformité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Conformité : accord des autorisations pour certaines opérations de souscriptions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450591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246887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Service Clients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450591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864" y="246887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Relations clients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0" y="2450591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13664" y="246887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0" y="2450591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99663" y="246887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798063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281635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98063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81635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Défense (IDA), défense (hors IDA)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0" y="2798063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13664" y="281635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0" y="2798063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99663" y="281635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14553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3163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145536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12864" y="316382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Recours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258800" y="314553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313664" y="316382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0" y="314553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99663" y="316382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49300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" y="3511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3493008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12864" y="3511296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Récupération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0" y="349300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313664" y="351129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544800" y="349300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99663" y="351129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3840479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" y="385876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3840479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12864" y="3858767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ou avenant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258800" y="3840479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313664" y="3858767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544800" y="3840479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599663" y="3858767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418795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" y="42062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4187952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12864" y="4206240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Réseaux de distribution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258800" y="41879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313664" y="42062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0" y="41879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599663" y="42062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453542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" y="45537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4535424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2864" y="4553712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engineering &amp; risques divers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258800" y="45354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313664" y="45537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544800" y="45354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599663" y="45537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" y="488289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9264" y="4901183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4882896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12864" y="4901183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incendie &amp; RC : offres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258800" y="48828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313664" y="4901183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544800" y="48828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599663" y="4901183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523036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9264" y="5248655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5230368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12864" y="5248655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incendie &amp; RC : contrats &amp; avenants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258800" y="52303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313664" y="5248655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0" y="52303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5599663" y="5248655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4400" y="557784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9264" y="559612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58000" y="557784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12864" y="5596127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Centres d’Expertise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3258800" y="557784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313664" y="5596127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544800" y="55778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599663" y="5596127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4400" y="592531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9264" y="594359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858000" y="5925312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12864" y="594359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production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258800" y="592531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313664" y="594359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5544800" y="59253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5599663" y="594359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4400" y="627278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69264" y="629107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858000" y="6272784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12864" y="6291072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Sinistres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3258800" y="6272784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3313664" y="629107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5544800" y="62727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599663" y="62910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4400" y="662025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69264" y="663854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58000" y="6620256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12864" y="663854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Contentieux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3258800" y="662025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313664" y="663854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5544800" y="66202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5599663" y="66385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4400" y="696772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9264" y="698601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58000" y="6967728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12864" y="6986016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Inspection &amp; Assistance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3258800" y="696772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3313664" y="698601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5544800" y="69677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5599663" y="69860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4400" y="731520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9264" y="733348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858000" y="7315200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912864" y="733348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réassurance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3258800" y="7315200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3313664" y="733348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5544800" y="73152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5599663" y="73334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14400" y="7662671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69264" y="768095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858000" y="7662671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12864" y="768095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production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3258800" y="7662671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3313664" y="768095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5544800" y="7662671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5599663" y="76809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14400" y="801014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69264" y="802843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858000" y="8010144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912864" y="802843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Suivi des Sinistres et Réclamations.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3258800" y="801014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313664" y="802843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5544800" y="80101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5599663" y="80284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28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14400" y="835761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69264" y="837590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858000" y="8357616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912864" y="837590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Suivi des sinistres et Réclamations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3258800" y="835761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3313664" y="83759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5544800" y="83576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5599663" y="83759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23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14400" y="870508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69264" y="872337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858000" y="8705088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912864" y="8723376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Animation du réseau (agents généraux et courtiers) &amp; appels d’offres : Gestion d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258800" y="870508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3313664" y="872337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544800" y="87050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5599663" y="87233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J+1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2 Structures  ·  18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portefeuilles individuelles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450591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246887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450591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864" y="246887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portefeuilles collectives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0" y="2450591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13664" y="246887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0" y="2450591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99663" y="246887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798063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281635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98063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81635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/ prestations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0" y="2798063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13664" y="281635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0" y="2798063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99663" y="281635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14553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3163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145536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12864" y="316382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Décaissement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258800" y="314553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313664" y="316382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0" y="314553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99663" y="316382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49300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" y="3511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3493008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12864" y="3511296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Sinistres (Double rotation 7h00 – 13h30 / 14h – 20h30)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0" y="349300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313664" y="351129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544800" y="349300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99663" y="351129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3840479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" y="385876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3840479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12864" y="3858767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Encaissement des primes/ Recouvrement et validation feuille de caisse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258800" y="3840479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313664" y="3858767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544800" y="3840479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599663" y="3858767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418795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" y="42062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4187952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12864" y="4206240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Décaissement des sinistres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258800" y="41879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313664" y="42062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0" y="41879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599663" y="42062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453542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" y="45537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4535424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2864" y="4553712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Décaissement réassurance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258800" y="45354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313664" y="45537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544800" y="45354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599663" y="45537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" y="488289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9264" y="4901183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4882896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12864" y="4901183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Pilotage de la trésorerie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258800" y="48828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313664" y="4901183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544800" y="48828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599663" y="4901183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523036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9264" y="5248655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5230368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12864" y="5248655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matériel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258800" y="52303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313664" y="5248655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0" y="52303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5599663" y="5248655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4400" y="557784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9264" y="559612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58000" y="557784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12864" y="5596127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Matériel : Contentieux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3258800" y="557784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313664" y="5596127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544800" y="55778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599663" y="5596127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4400" y="592531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9264" y="594359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858000" y="5925312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12864" y="594359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corporel : contentieux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258800" y="592531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313664" y="594359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5544800" y="59253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5599663" y="594359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4400" y="627278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69264" y="629107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858000" y="6272784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12864" y="6291072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Prestation risque d’entreprise amiable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3258800" y="6272784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3313664" y="629107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5544800" y="62727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599663" y="62910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4400" y="662025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69264" y="663854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58000" y="6620256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12864" y="663854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Prestation risque d’entreprise contentieux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3258800" y="662025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313664" y="663854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5544800" y="66202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5599663" y="66385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4400" y="696772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9264" y="698601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58000" y="6967728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12864" y="6986016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Validation des bons de commande et des factures (liée aux scénarios PCA)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3258800" y="696772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3313664" y="698601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5544800" y="69677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5599663" y="69860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4400" y="731520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9264" y="733348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858000" y="7315200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912864" y="733348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production des contrats collectifs à adhésions libres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3258800" y="7315200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3313664" y="733348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5544800" y="73152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5599663" y="73334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14400" y="7662671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69264" y="768095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858000" y="7662671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12864" y="768095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annulations et des Résiliations et des avenants aux contrats souscri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3258800" y="7662671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3313664" y="768095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5544800" y="7662671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5599663" y="76809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14400" y="801014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69264" y="802843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858000" y="8010144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912864" y="802843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Animation du réseau (agents généraux et courtiers) &amp; appels d’offres : Autres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3258800" y="801014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313664" y="802843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5544800" y="80101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5599663" y="80284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J+2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1 Structures  ·  4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Production (Double rotation 7h00 – 13h30 / 14h – 20h30) 
(Gestion des contrats 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450591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246887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450591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864" y="246887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prévention et Visites de Risques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0" y="2450591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13664" y="246887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0" y="2450591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99663" y="246887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798063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281635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98063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81635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Marketing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0" y="2798063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13664" y="281635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0" y="2798063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99663" y="281635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14553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3163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145536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12864" y="316382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Vente et prospection à travers les futurs agents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258800" y="314553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313664" y="316382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0" y="314553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99663" y="316382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J+3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3 Structures  ·  10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Inspection Générale du Réseau et Contrôle Conformité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Inspection (contrôle des agences sur les plans financiers, comptables et adminis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450591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246887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450591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864" y="246887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Déclaration des impôts mensuelles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0" y="2450591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13664" y="246887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0" y="2450591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99663" y="246887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798063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281635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98063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81635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Encaissement / Recouvrement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0" y="2798063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13664" y="281635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0" y="2798063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99663" y="281635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14553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3163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145536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12864" y="316382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Contrôle (Double rotation 7h00 – 13h30 / 14h – 20h30)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258800" y="314553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313664" y="316382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0" y="314553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99663" y="316382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49300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" y="3511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3493008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12864" y="3511296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Traitement des réclamations clients (Double rotation 7h00 – 13h30 / 14h – 20h30)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0" y="349300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313664" y="351129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544800" y="349300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99663" y="351129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3840479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" y="385876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3840479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12864" y="3858767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corporel : transactions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258800" y="3840479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313664" y="3858767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544800" y="3840479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599663" y="3858767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418795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" y="42062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4187952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12864" y="4206240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corporel : matériels assurés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258800" y="41879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313664" y="42062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0" y="41879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599663" y="42062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453542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" y="45537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4535424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2864" y="4553712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Inventaire permanent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258800" y="45354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313664" y="45537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544800" y="45354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599663" y="45537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" y="488289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9264" y="4901183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4882896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12864" y="4901183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paie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258800" y="48828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313664" y="4901183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544800" y="48828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599663" y="4901183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523036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9264" y="5248655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5230368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12864" y="5248655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congés, du pointage et des prestations sociales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258800" y="52303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313664" y="5248655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0" y="52303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5599663" y="5248655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J+4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1 Structures  ·  1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courriers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J+5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4 Structures  ·  19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Validation des factures fournisseurs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450591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246887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450591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864" y="246887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Reporting auprès de la CGA (mensuel, trimestriel et annuel)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0" y="2450591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13664" y="246887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0" y="2450591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99663" y="246887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798063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281635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98063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81635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État financiers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0" y="2798063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13664" y="281635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0" y="2798063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99663" y="281635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14553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3163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145536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12864" y="316382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Réponses aux correspondances des administrations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258800" y="314553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313664" y="316382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0" y="314553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99663" y="316382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49300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" y="3511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3493008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12864" y="3511296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Audit interne (Accompagnement, contrôle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0" y="349300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313664" y="351129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544800" y="349300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99663" y="351129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3840479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" y="385876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3840479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12864" y="3858767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Incapacité/ Invalidité/ Accidents de travail (AT) (Horaire normal)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258800" y="3840479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313664" y="3858767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544800" y="3840479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599663" y="3858767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418795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" y="42062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4187952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12864" y="4206240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Décès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258800" y="41879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313664" y="42062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0" y="41879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599663" y="42062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453542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" y="45537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4535424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2864" y="4553712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Décaissement frais généraux et autres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258800" y="45354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313664" y="45537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544800" y="45354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599663" y="45537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" y="488289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9264" y="4901183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4882896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12864" y="4901183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Risques et Surveillance Portefeuille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258800" y="48828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313664" y="4901183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544800" y="48828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599663" y="4901183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523036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9264" y="5248655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5230368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12864" y="5248655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Actuariat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258800" y="52303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313664" y="5248655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0" y="52303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5599663" y="5248655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4400" y="557784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9264" y="559612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58000" y="557784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12864" y="5596127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Cellule de Surveillance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3258800" y="557784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313664" y="5596127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544800" y="55778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599663" y="5596127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4400" y="592531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9264" y="594359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858000" y="5925312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12864" y="594359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fournisseurs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258800" y="592531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313664" y="594359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5544800" y="59253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5599663" y="594359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4400" y="627278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69264" y="629107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858000" y="6272784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12864" y="6291072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achats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3258800" y="6272784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3313664" y="629107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5544800" y="62727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599663" y="62910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4400" y="662025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69264" y="663854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58000" y="6620256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12864" y="663854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du parc automobile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3258800" y="662025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313664" y="663854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5544800" y="66202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5599663" y="66385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4400" y="696772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9264" y="698601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58000" y="6967728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12864" y="6986016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du patrimoine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3258800" y="696772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3313664" y="698601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5544800" y="69677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5599663" y="69860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4400" y="731520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9264" y="733348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858000" y="7315200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912864" y="733348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Développement produit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3258800" y="7315200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3313664" y="733348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5544800" y="73152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5599663" y="73334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14400" y="7662671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69264" y="768095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858000" y="7662671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12864" y="768095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Statistiques, Rapports périodiques et suivi budgétaire et des indicateurs d’acti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3258800" y="7662671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3313664" y="768095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5544800" y="7662671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5599663" y="76809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14400" y="801014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69264" y="802843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858000" y="8010144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912864" y="802843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courrier et d’archivage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3258800" y="801014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313664" y="802843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5544800" y="80101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5599663" y="80284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14400" y="835761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69264" y="837590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858000" y="8357616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912864" y="837590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Remboursement des sinistres p/c de l’Assisteur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3258800" y="835761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3313664" y="83759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5544800" y="83576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5599663" y="83759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J+10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2 Structures  ·  3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Saisie, Génération et Vérification des écritures Comptables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450591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246887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450591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864" y="246887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portefeuilles capital risque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0" y="2450591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13664" y="246887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0" y="2450591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99663" y="246887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798063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281635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98063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81635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corporel : récupération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0" y="2798063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13664" y="281635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0" y="2798063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99663" y="281635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J+15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1 Structures  ·  4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formation, recrutements et des stagiaires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450591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246887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450591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864" y="2468879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carrière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0" y="2450591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13664" y="246887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0" y="2450591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99663" y="246887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798063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281635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98063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816351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Évaluation et Gestion de la 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0" y="2798063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13664" y="281635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0" y="2798063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99663" y="281635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14553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3163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145536"/>
            <a:ext cx="6382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12864" y="3163824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Validation des bons de commande et des factures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258800" y="314553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313664" y="316382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0" y="314553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99663" y="316382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J+30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Zoom sur la Reprise des Activités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814"/>
                </a:solidFill>
                <a:latin typeface="Calibri"/>
              </a:rPr>
              <a:t>1 Structures  ·  1 Activités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6382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55648"/>
            <a:ext cx="6291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173736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17556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0" y="173736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0520" y="175564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 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0312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2140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03120"/>
            <a:ext cx="6382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121408"/>
            <a:ext cx="6272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Développement / Formation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0" y="210312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13664" y="212140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0" y="210312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99663" y="212140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AEA8"/>
                </a:solidFill>
                <a:latin typeface="Calibri"/>
              </a:rPr>
              <a:t>AI-driven tech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Tableau des Impacts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8961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34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H+2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automobile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H+4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Inspection Générale du Réseau et Contrôle Conformité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Conformité : accord des autorisations pour certaines opérations de souscriptions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Service Clients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Relations clients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00253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02082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0253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020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Défense (IDA), défense (hors IDA)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4206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98448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03934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8175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662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7903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3390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1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118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235000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2368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235000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98464" y="2368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Recours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8720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94206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98448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03934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08175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3662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7903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3390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27631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33118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269748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271576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269748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271576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Récupération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0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94206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984480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03934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08175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13662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17903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233903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27631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6331183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" y="304495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9264" y="3063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0" y="304495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98464" y="30632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ou avenant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98448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03934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08175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13662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17903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233903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627631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331183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4400" y="339242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9264" y="341071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43600" y="339242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98464" y="34107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Réseaux de distribution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887200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94206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984480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303934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408175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13662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17903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233903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27631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6331183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18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3989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9264" y="3758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943600" y="373989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998464" y="3758183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engineering &amp; risques divers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887200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94206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984480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03934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08175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13662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17903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233903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27631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331183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14400" y="408736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69264" y="4105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943600" y="408736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998464" y="410565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incendie &amp; RC : offres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887200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94206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2984480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303934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408175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13662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517903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5233903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627631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6331183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4434840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4453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443484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445312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incendie &amp; RC : contrats &amp; avenants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1887200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194206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984480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303934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08175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413662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17903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233903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627631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6331183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29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" y="478231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9264" y="4800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943600" y="478231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998464" y="480060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Centres d’Expertise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984480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3039344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4081759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4136624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179039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233903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6276319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6331183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22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14400" y="512978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69264" y="514807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943600" y="5129783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998464" y="514807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production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1887200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942064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2984480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3039344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4081759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136624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5179039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233903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6276319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6331183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28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14400" y="547725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69264" y="549554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943600" y="547725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998464" y="549554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Sinistres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887200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1942064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2984480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3039344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4081759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4136624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5179039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5233903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276319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331183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28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14400" y="582472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69264" y="584301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943600" y="582472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98464" y="584301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Contentieux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1887200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1942064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2984480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3039344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4081759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4136624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5179039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5233903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6276319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6331183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914400" y="617220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969264" y="619048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943600" y="617220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998464" y="619048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Inspection &amp; Assistance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1887200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1942064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2984480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3039344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4081759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4136624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5179039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233903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6276319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6331183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29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914400" y="651967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69264" y="653796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943600" y="651967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5998464" y="653796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réassurance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1887200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1942064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2984480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3039344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4081759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4136624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5179039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5233903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6276319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6331183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H+4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Suivi des Sinistres et Réclamations.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00253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02082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0253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020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Suivi des sinistres et Réclamations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4206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98448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03934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8175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662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7903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3390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1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118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235000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2368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235000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98464" y="2368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Animation du réseau (agents généraux et courtiers) &amp; appels d’offres : Gestion 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8720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94206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98448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03934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08175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3662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7903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3390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27631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33118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portefeuilles individuelles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portefeuilles collectives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00253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02082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0253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020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/ prestations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4206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98448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03934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8175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662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7903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3390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1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118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235000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2368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235000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98464" y="2368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Décaissement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8720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94206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98448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03934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08175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3662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7903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3390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27631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33118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269748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271576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269748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271576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Sinistres (Double rotation 7h00 – 13h30 / 14h – 20h30)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0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94206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984480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03934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08175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13662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17903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233903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27631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6331183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" y="304495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9264" y="3063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0" y="304495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98464" y="30632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Encaissement des primes/ Recouvrement et validation feuille de caisse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98448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03934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08175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13662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17903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233903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627631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331183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4400" y="339242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9264" y="341071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43600" y="339242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98464" y="34107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Décaissement des sinistres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887200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94206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984480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303934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408175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13662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17903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233903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27631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6331183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3989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9264" y="3758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943600" y="373989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998464" y="3758183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Décaissement réassurance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887200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94206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984480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03934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08175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13662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17903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233903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27631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331183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14400" y="408736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69264" y="4105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943600" y="408736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998464" y="410565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Pilotage de la trésorerie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887200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94206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2984480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303934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408175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13662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517903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5233903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627631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6331183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4434840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4453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443484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445312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matériel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1887200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194206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984480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303934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08175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413662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17903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233903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627631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6331183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" y="478231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9264" y="4800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943600" y="478231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998464" y="480060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Matériel : Contentieux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984480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3039344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4081759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4136624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179039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233903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6276319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6331183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14400" y="512978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69264" y="514807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943600" y="5129783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998464" y="514807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corporel : contentieux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1887200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942064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2984480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3039344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4081759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136624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5179039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233903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6276319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6331183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14400" y="547725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69264" y="549554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943600" y="547725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998464" y="549554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Prestation risque d’entreprise amiable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887200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1942064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2984480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3039344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4081759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4136624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5179039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5233903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276319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331183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23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14400" y="582472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69264" y="584301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943600" y="582472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98464" y="584301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Prestation risque d’entreprise contentieux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1887200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1942064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2984480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3039344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4081759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4136624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5179039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5233903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6276319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6331183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914400" y="617220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969264" y="619048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943600" y="617220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998464" y="619048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Validation des bons de commande et des factures (liée aux scénarios PCA)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1887200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1942064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2984480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3039344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4081759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4136624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5179039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233903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6276319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6331183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914400" y="651967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69264" y="653796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943600" y="651967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5998464" y="653796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production des contrats collectifs à adhésions libres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1887200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1942064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2984480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3039344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4081759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4136624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5179039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5233903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6276319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6331183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annulations et des Résiliations et des avenants aux contrats souscri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Animation du réseau (agents généraux et courtiers) &amp; appels d’offres : Autres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Production (Double rotation 7h00 – 13h30 / 14h – 20h30) 
(Gestion des contrats 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prévention et Visites de Risques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00253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02082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0253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020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Marketing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4206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98448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03934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8175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662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7903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3390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1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118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235000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2368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235000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98464" y="2368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Vente et prospection à travers les futurs agents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8720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94206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98448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03934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08175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3662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7903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3390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27631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33118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Inspection Générale du Réseau et Contrôle Conformité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Inspection (contrôle des agences sur les plans financiers, comptables et adminis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Déclaration des impôts mensuelles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00253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02082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0253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020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Encaissement / Recouvrement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4206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98448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03934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8175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662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7903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3390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1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118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235000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2368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235000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98464" y="2368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Contrôle (Double rotation 7h00 – 13h30 / 14h – 20h30)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8720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94206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98448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03934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08175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3662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7903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3390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27631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33118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269748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271576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269748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271576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Traitement des réclamations clients (Double rotation 7h00 – 13h30 / 14h – 20h30)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0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94206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984480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03934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08175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13662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17903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233903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27631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6331183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" y="304495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9264" y="3063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0" y="304495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98464" y="30632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corporel : transactions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98448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03934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08175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13662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17903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233903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627631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331183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4400" y="339242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9264" y="341071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43600" y="339242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98464" y="34107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corporel : matériels assurés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887200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94206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984480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303934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408175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13662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17903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233903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27631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6331183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3989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9264" y="3758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943600" y="373989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998464" y="3758183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Inventaire permanent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887200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94206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984480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03934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08175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13662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17903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233903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27631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331183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9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14400" y="408736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69264" y="4105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943600" y="408736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998464" y="410565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paie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887200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94206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2984480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303934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408175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13662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517903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5233903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627631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6331183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4434840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4453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443484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445312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congés, du pointage et des prestations sociales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1887200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194206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984480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303934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08175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413662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17903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233903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627631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6331183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courriers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Validation des factures fournisseurs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Reporting auprès de la CGA (mensuel, trimestriel et annuel)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00253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02082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0253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020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État financiers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4206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98448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03934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8175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662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7903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3390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1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118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235000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2368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235000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98464" y="2368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Réponses aux correspondances des administrations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8720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94206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98448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03934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08175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3662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7903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3390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27631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33118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269748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271576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269748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271576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Audit interne (Accompagnement, contrôle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0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94206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984480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03934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08175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136624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17903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233903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276319" y="269748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6331183" y="271576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" y="304495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9264" y="3063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0" y="304495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98464" y="30632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Incapacité/ Invalidité/ Accidents de travail (AT) (Horaire normal)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98448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03934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08175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13662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17903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233903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6276319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331183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4400" y="339242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9264" y="341071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43600" y="339242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98464" y="34107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Décès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887200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94206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984480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303934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408175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136624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17903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233903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276319" y="3392424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6331183" y="341071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3989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9264" y="3758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943600" y="373989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998464" y="3758183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Décaissement frais généraux et autres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887200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94206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984480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03934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08175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136624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17903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233903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276319" y="3739896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331183" y="3758183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14400" y="408736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69264" y="4105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943600" y="408736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998464" y="410565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Risques et Surveillance Portefeuille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887200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94206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2984480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303934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408175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136624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517903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5233903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6276319" y="4087368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6331183" y="410565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4434840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4453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443484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4453127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Actuariat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1887200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194206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984480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303934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08175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4136624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17903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233903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6276319" y="4434840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6331183" y="4453127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" y="478231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9264" y="4800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943600" y="478231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998464" y="480060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Cellule de Surveillance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984480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3039344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4081759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4136624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179039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233903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6276319" y="4782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6331183" y="48006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14400" y="512978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69264" y="514807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943600" y="5129783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998464" y="514807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fournisseurs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1887200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942064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2984480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3039344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4081759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136624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5179039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233903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6276319" y="5129783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6331183" y="5148071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13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14400" y="547725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69264" y="549554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943600" y="547725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998464" y="549554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achats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887200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1942064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2984480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3039344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4081759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4136624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5179039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5233903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276319" y="547725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331183" y="549554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14400" y="582472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69264" y="584301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943600" y="582472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98464" y="584301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du parc automobile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1887200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1942064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2984480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3039344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4081759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4136624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5179039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5233903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6276319" y="582472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6331183" y="584301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914400" y="617220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969264" y="619048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943600" y="617220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998464" y="619048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du patrimoine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1887200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1942064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2984480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3039344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4081759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4136624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5179039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233903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6276319" y="6172200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6331183" y="6190488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914400" y="651967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69264" y="653796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943600" y="651967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5998464" y="653796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Développement produit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1887200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1942064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2984480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3039344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4081759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4136624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5179039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5233903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6276319" y="65196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6331183" y="65379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Statistiques, Rapports périodiques et suivi budgétaire et des indicateurs d’acti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courrier et d’archivage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00253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02082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Assistance Voyage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0253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020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Remboursement des sinistres p/c de l’Assisteur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4206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98448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03934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8175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662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7903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3390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1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118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Saisie, Génération et Vérification des écritures Comptables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des portefeuilles capital risque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00253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02082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0253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020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Sinistre automobile corporel : récupération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4206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98448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03934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8175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662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7903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3390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1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118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formation, recrutements et des stagiaires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65506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1673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65506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167335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carrière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4206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4480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3934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8175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36624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17903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390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19" y="1655064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31183" y="1673352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00253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02082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0253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02082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Évaluation et Gestion de la performance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4206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984480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03934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8175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6624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7903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3390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19" y="2002536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1183" y="2020824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235000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2368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235000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98464" y="236829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Validation des bons de commande et des factures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8720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94206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984480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03934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08175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36624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7903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3390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276319" y="2350008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331183" y="2368296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DMIA  J+30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4048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852"/>
                </a:solidFill>
                <a:latin typeface="Calibri"/>
              </a:rPr>
              <a:t>Tableau des Impacts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978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6012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97840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Activité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2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3020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5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27480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1J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3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2475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 2-3J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19" y="96012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22039" y="9784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30759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32588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0759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32588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Développement / 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0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934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5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36624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17903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23390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19" y="13075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31183" y="13258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AEA8"/>
                </a:solidFill>
                <a:latin typeface="Calibri"/>
              </a:rPr>
              <a:t>AI-driven tech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Reprise actualisée des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8961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34E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(1/5)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1 — Reprise ≤ J+1  ·  79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REIS KYC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moyens de contournement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moyens de contournement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
Contournement PMDT : Consulter CRM &amp; Outlook les f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
Consultation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
Contournement PMDT : dossiers physiques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
Contournement PMDT : Consulter CRM &amp; Outlook, les 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De préférence la DMIA est de 2H vu le risque d’erreur qui impactera l’image de m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Vitale Pour la Production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(2/5)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1 — Reprise ≤ J+1  ·  79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 (profil de consultation) Pas de moyen de contournement
En cas de pe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Vitale pour la production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Mygat Business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KYC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CTI (Logiciel Hermès)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E-Recours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Plateforme externe de la FTUSA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RPA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RAS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 pour défense IDA et hors IDA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(3/5)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1 — Reprise ≤ J+1  ·  79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LOGIVIE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Plateforme E-recours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REIS AML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REIS KYC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MY GAT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H+4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Mygat Mobile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 des suivis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(4/5)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1 — Reprise ≤ J+1  ·  79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Sage 1000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Proclaim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Tatsh (Suivi Sinistre Santé Internationale)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 (profile de consultation) Pas de moyen de contournement
En cas de 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Actuellement en mode consultation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Actuellement en mode consultation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Proclaim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Vitale pour toute la direction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Proclaim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(5/5)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1 — Reprise ≤ J+1  ·  79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Helion solution (OPCVM)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Pour l’activité de gestion des portefeuilles collectives
Pas de moyen de contour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moyens de contournement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TSI (gestion des portefeuilles)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Pour l’activité de gestion des portefeuilles individuelles
Pas de moyen de conto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
En cas de perte des données : One Drive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
Contournement : AS400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Site Web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E-Recours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 des suivis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E-Recours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Sinistre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(1/8)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2 — Reprise J+2 à J+5  ·  115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PMDT : Consulter SharePoint &amp; les fichiers PDF reçus
Contournement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règlement manuel ou par mail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Sinistre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Validé avec la direction Santé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règlement manuel ou par mail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PMDT : Consulter SharePoint &amp; les fichiers PDF reçus
Contournement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 (pour le volet Financier)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 (GED)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C*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*Le volet critique : Sinistre (SAV) BO / Courrier : Non critique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(2/8)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2 — Reprise J+2 à J+5  ·  115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Saisie dans le cas de parrainage Pas de moyen de contournement
En cas de perte 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
En cas de perte des données (partiel) : Partage 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MY GAT / Self Care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 En cas de perte des données : CRM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Reis KYC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SAGE RH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manuelle par AS400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Moyens de contournement : Outlook
Sur le cloud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AVERROES (GED)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Moyens de contournement : accès physique aux archives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E-Sinistre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par mail. (Prise en charge)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Partage SharePoint (RH)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par mail (Scan du courrier par bureau d’ordre)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(3/8)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2 — Reprise J+2 à J+5  ·  115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TunFile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E-Sinistre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par mail. (Prise en charge)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GAT Siège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Moyens de contournement : Outlook Sur le cloud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Traitement manuel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Sage suite financière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Traitement manuel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Sage suite financière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Préparer les écritures compta sur Excel pour les intégrer au niveau du système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Sage 1000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Validé avec l’équipe comptabilité et financière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RAS – pour la consultation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Scan du courrier et envoi par mail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TunFile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J+4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(4/8)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2 — Reprise J+2 à J+5  ·  115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ACCRETIO(GAT’NA)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KELIO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Proclaim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Portail « Enquêtes de Satisfaction Q3 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TeamFile10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E-Sinistres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MYGAT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
En cas de perte des données (partiel) : Partage Sh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(5/8)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2 — Reprise J+2 à J+5  ·  115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partiel : GAT 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par Outlook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envoi des requêtes au service IT pour recueillir les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
En cas de perte des données : RAS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 : Messagerie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Messagerie par téléphone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Alimentation Statistique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
En cas de perte des données : RAS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AS 400 (envoi des requêtes au service IT afin de recuei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Portail de fiabilisation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 (profil de consultation) Criticité de l’application : besoin de val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eRecours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Proclaim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AS 400 (envoi des requêtes au service IT afin de recuei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(6/8)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2 — Reprise J+2 à J+5  ·  115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Vitale pour la Cellule de Surveillance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AS400 pour la consultation (et également pour la saisie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PRIMA ANALYTICS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Sage XRT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par Outlook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Vitale pour l’incapacité et décès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Vitale pour l’incapacité et décès et production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Informations à partir de AS400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Plateforme Epave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MaiViewer (Afrique Assistance)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Librassur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AS400 pour la consultation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AMINA21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Informations à partir de AS400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Plateforme Epave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(7/8)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2 — Reprise J+2 à J+5  ·  115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MaiViewer (Afrique Assistance)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LOGIVIE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AS400/ GAT siège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Consultation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par mail (Scan du courrier par bureau d’ordre)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: inventaire instantané 
Consultation des règlements / reporting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
Contournement partiel PMDT :  AS400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: inventaire instantané / AS400
En mode consultation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Sage Paie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TSI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Pas de moyen de contournement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(8/8)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2 — Reprise J+2 à J+5  ·  115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AS400 et les documents physiques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Avérroes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MYGAT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3 — Reprise au-delà de J+5  ·  19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Power BI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SQL comme moyen de contournement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Aucun moyen de contournement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89864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9169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89864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91693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Averroès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89864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70464" y="291693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289864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42064" y="291693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24612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326440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4612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3264408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24612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0464" y="326440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24612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26440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SQL/AS400 comme moyen de contournement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93591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61187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593591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98464" y="361187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CRM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593591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70464" y="361187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593591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942064" y="361187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Outlook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394106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395935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941064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395935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Reporting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3941064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0464" y="39593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0" y="394106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942064" y="395935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428853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30682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4288536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98464" y="430682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LIBRASSUR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988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15600" y="4288536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70464" y="430682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428853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942064" y="430682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914400" y="463600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465429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4636008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98464" y="465429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21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15600" y="4636008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70464" y="465429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463600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465429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En mode consultation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983479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9264" y="500176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0" y="4983479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98464" y="500176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988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15600" y="4983479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500176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87200" y="4983479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942064" y="500176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3309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3492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43600" y="5330952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534924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988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5330952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5349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887200" y="53309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942064" y="53492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 400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567842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9264" y="569671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0" y="567842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98464" y="569671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LOGIVIE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988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567842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70464" y="569671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887200" y="567842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42064" y="569671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60258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264" y="6044183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602589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8464" y="604418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AMINA 21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988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15600" y="602589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70464" y="6044183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0" y="60258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42064" y="6044183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63733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264" y="63916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373368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98464" y="6391656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 Siège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988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J+15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15600" y="6373368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70464" y="6391656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87200" y="63733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942064" y="63916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Requête informatique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4400" y="67208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9264" y="6739127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43600" y="6720840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998464" y="6739127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Office 365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988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6720840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70464" y="6739127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200" y="67208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942064" y="673912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" y="70683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9264" y="70866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43600" y="7068312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98464" y="7086600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AVERROES (GED)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440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988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7068312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70464" y="708660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87200" y="70683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42064" y="70866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Reprise actualisée des applications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64592" cy="292608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87552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814"/>
                </a:solidFill>
                <a:latin typeface="Calibri"/>
              </a:rPr>
              <a:t>Lot 3 — Reprise au-delà de J+5  ·  19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3182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27048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353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27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50876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32920" y="152704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Contournement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1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7451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1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874519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56231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1874519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856231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7451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Moyen de contournement : courrier physique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203703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22199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03703"/>
            <a:ext cx="3182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221991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3"/>
            <a:ext cx="1353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2221991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2203703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42064" y="2221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par mail (Scan du courrier par bureau d’ordre)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55117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6946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551176"/>
            <a:ext cx="3182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56946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Elise-GEC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J+7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551176"/>
            <a:ext cx="1353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4" y="25694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255117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42064" y="256946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Contournement par mail (Scan du courrier par bureau d’ordre)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AEA8"/>
                </a:solidFill>
                <a:latin typeface="Calibri"/>
              </a:rPr>
              <a:t>AI-driven tech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Collaborateurs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8961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34E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814"/>
                </a:solidFill>
                <a:latin typeface="Calibri"/>
              </a:rPr>
              <a:t>Analyse des collaborateurs clés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814"/>
                </a:solidFill>
                <a:latin typeface="Calibri"/>
              </a:rPr>
              <a:t>des collaborateurs clés disposent
d'au moins un suppléant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5852"/>
                </a:solidFill>
                <a:latin typeface="Calibri"/>
              </a:rPr>
              <a:t>Total collaborateurs clés :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Liste des Collaborateurs Clés par structure (1/4)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Nom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Prénom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09728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04120" y="111556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Fonction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901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Poste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0" y="1097280"/>
            <a:ext cx="162763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18920" y="1115568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Ancienneté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19120" y="1097280"/>
            <a:ext cx="24505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864840" y="1115568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Suppléant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4447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14630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BATTIKH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Karim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4447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3264" y="14630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Inspection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992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Collaborateur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0" y="1444752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28064" y="146304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12 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819120" y="1444752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73984" y="1463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Moez Dachraoui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1792224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181051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NAIFER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Anis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17922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13264" y="18105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Inspection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44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992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Collaborateur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173200" y="1792224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228064" y="181051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 ans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819120" y="1792224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873984" y="181051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Mehdi BEN THABET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396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15798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TOUMI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44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Olfa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0" y="21396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13264" y="215798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Conformité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444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3992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Collaborateur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173200" y="2139696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228064" y="215798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29 ans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819120" y="2139696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73984" y="215798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Hajer TRABELSI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24871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" y="25054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556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OUESLATI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44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Ramzi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58400" y="24871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13264" y="250545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Service clients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3444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3992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173200" y="2487168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228064" y="250545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 ans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819120" y="2487168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873984" y="250545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Raoudha Saadaoui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" y="28346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9264" y="285292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28346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55664" y="285292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Olfa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28346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84464" y="285292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Ksibi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58400" y="283464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13264" y="285292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Comptabilité (États financiers GAT Assurances)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44400" y="28346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399264" y="285292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 Adjoint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173200" y="2834640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228064" y="285292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21 ans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819120" y="2834640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873984" y="2852928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Jenhani Kaouther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4400" y="31821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9264" y="32004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0" y="31821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55664" y="320040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Sarra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29600" y="31821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84464" y="320040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Guermazi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0" y="318211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113264" y="32004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Comptabilité (États financiers GAT Vie)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344400" y="31821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399264" y="320040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Cheffe Service Principal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173200" y="3182112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228064" y="320040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13 ans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819120" y="3182112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873984" y="320040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Olfa Ksibi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4400" y="352958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9264" y="354787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0" y="35295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55664" y="35478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Kaouther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229600" y="35295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84464" y="35478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Jenhani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058400" y="3529584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13264" y="354787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Comptabilité (États financiers GAT Invest et reporting GAT Assurances)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344400" y="35295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399264" y="35478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 Adjoint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4173200" y="3529584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228064" y="354787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21 ans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819120" y="3529584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73984" y="354787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Olfa Ksibi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387705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389534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0" y="38770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55664" y="38953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Yassine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229600" y="38770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84464" y="38953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Boussetta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58400" y="387705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113264" y="389534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Comptabilité (Déclarations fiscales GAT Assurances)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344400" y="38770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399264" y="38953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 de Division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173200" y="3877056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228064" y="389534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13 ans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819120" y="3877056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873984" y="389534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Olfa Ksibi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422452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9264" y="424281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0800" y="42245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55664" y="42428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Ben Hamza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229600" y="42245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284464" y="42428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Abdessatar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0" y="422452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113264" y="424281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Recours, défense et récupération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2344400" y="42245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399264" y="42428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 Central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4173200" y="4224528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228064" y="424281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13 ans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5819120" y="4224528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5873984" y="424281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Mdimagh Imed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4400" y="4572000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9264" y="459028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0" y="45720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455664" y="45902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NAOUALI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229600" y="45720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284464" y="45902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Ridha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058400" y="4572000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113264" y="459028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Recours, défense et récupération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344400" y="45720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399264" y="45902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Collaborateur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173200" y="4572000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4228064" y="459028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15 ans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819120" y="4572000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873984" y="4590288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Imen RIAHI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4400" y="491947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69264" y="493775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0" y="491947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55664" y="49377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8229600" y="491947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284464" y="49377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0058400" y="491947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113264" y="493775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Equipe Polyvalente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344400" y="491947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399264" y="49377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14173200" y="4919472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4228064" y="4937759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1" name="Rectangle 170"/>
          <p:cNvSpPr/>
          <p:nvPr/>
        </p:nvSpPr>
        <p:spPr>
          <a:xfrm>
            <a:off x="15819120" y="4919472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873984" y="4937759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914400" y="5266944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264" y="528523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00800" y="52669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455664" y="52852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8229600" y="52669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284464" y="52852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10058400" y="526694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113264" y="528523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Equipe Polyvalente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2344400" y="52669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2399264" y="52852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3" name="Rectangle 182"/>
          <p:cNvSpPr/>
          <p:nvPr/>
        </p:nvSpPr>
        <p:spPr>
          <a:xfrm>
            <a:off x="14173200" y="5266944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228064" y="5285231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15819120" y="5266944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873984" y="5285231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914400" y="561441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69264" y="563270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00800" y="56144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455664" y="56327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Ben Moallem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229600" y="56144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284464" y="56327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Majdi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058400" y="561441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113264" y="56327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 Commercial
GAT Vie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2344400" y="56144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2399264" y="56327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4173200" y="5614416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4228064" y="563270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6 mois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5819120" y="5614416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5873984" y="563270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HATTAB Hana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14400" y="596188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69264" y="598017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400800" y="59618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455664" y="59801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KALLELA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229600" y="59618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284464" y="59801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Salah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058400" y="596188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0113264" y="598017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 Technique
(Individuelle et collectifs)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2344400" y="59618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2399264" y="59801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4173200" y="5961888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4228064" y="598017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5 mois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5819120" y="5961888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5873984" y="598017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KALAMOUN Mahdi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4400" y="630936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69264" y="632764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400800" y="630936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455664" y="632764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ROBBANA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229600" y="630936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284464" y="632764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Donia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058400" y="630936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113264" y="632764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 de projet Vie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2344400" y="630936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2399264" y="632764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 de projet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4173200" y="6309360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4228064" y="632764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9 ans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5819120" y="6309360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873984" y="6327648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LAMINE Afef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14400" y="665683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69264" y="667512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400800" y="665683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455664" y="667512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LAMINE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229600" y="665683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284464" y="667512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Afef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058400" y="665683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113264" y="667512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 de projet Vie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2344400" y="665683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2399264" y="667512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 de projet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4173200" y="6656832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4228064" y="667512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7 ans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5819120" y="6656832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5873984" y="667512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Donia Robbana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Liste des Collaborateurs Clés par structure (2/4)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Nom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Prénom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09728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04120" y="111556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Fonction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901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Poste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0" y="1097280"/>
            <a:ext cx="162763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18920" y="1115568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Ancienneté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19120" y="1097280"/>
            <a:ext cx="24505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864840" y="1115568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Suppléant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4447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14630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LOUMI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Fatma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4447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3264" y="14630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Gestionnaire Financier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992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Gestionnaire Financier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0" y="1444752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28064" y="146304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 mois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819120" y="1444752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73984" y="1463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Linda HASSNAOUI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1792224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181051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KHEMIRI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Ramzi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17922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13264" y="18105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 de la Branche santé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44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992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 de la Branche santé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173200" y="1792224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228064" y="181051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 Mois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819120" y="1792224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873984" y="181051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Hanene BAROUNI &amp; Mohamed BEN CHIBANI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396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15798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BAROUNI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44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Hanene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0" y="21396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13264" y="215798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sinistres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444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3992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sinistres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173200" y="2139696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228064" y="215798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18 ans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819120" y="2139696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73984" y="215798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Houcem BEN AMARA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24871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" y="25054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556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BEN CHIBANI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44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Mohamed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58400" y="24871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13264" y="250545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production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3444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3992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production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173200" y="2487168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228064" y="250545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 ans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819120" y="2487168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873984" y="250545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Houda FEKIH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" y="28346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9264" y="285292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28346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55664" y="285292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DABOUSSI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28346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84464" y="285292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Salem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58400" y="283464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13264" y="285292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des Réclamations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44400" y="28346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399264" y="285292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des Réclamations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173200" y="2834640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228064" y="285292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 ans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819120" y="2834640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873984" y="2852928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Dhouha GADHOUN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4400" y="31821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9264" y="32004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0" y="31821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55664" y="320040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EL ABED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29600" y="31821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84464" y="320040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Mohamed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0" y="318211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113264" y="32004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Incapacité / Décès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344400" y="31821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399264" y="320040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Incapacité / Décès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173200" y="3182112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228064" y="320040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19 ans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819120" y="3182112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873984" y="320040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Asma BELHASSAN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4400" y="352958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9264" y="354787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0" y="35295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55664" y="35478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KHEMIRI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229600" y="35295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84464" y="35478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Habiba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058400" y="3529584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13264" y="354787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Service Contrôle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344400" y="35295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399264" y="35478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Service Contrôle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4173200" y="3529584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228064" y="354787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15 ans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819120" y="3529584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73984" y="354787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Hedia MAROUANI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387705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389534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0" y="38770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55664" y="38953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8229600" y="38770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84464" y="38953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0058400" y="387705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113264" y="389534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Equipe Polyvalente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344400" y="38770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399264" y="38953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14173200" y="3877056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228064" y="389534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15819120" y="3877056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873984" y="389534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422452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9264" y="424281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0800" y="42245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55664" y="42428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ABIDI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229600" y="42245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284464" y="42428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Abdelaziz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0" y="422452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113264" y="424281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du service souscription risques automobiles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2344400" y="42245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399264" y="42428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4173200" y="4224528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228064" y="424281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 ans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5819120" y="4224528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5873984" y="424281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Fehmi NEJI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4400" y="4572000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9264" y="459028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0" y="45720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455664" y="45902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YOUNES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229600" y="45720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284464" y="45902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SAMEH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058400" y="4572000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113264" y="459028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du service souscription incendie &amp; RC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344400" y="45720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399264" y="45902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173200" y="4572000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4228064" y="459028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 ANS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819120" y="4572000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873984" y="4590288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LOUSAIEF HOUDA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4400" y="491947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69264" y="493775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0" y="491947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55664" y="49377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Equipe Polyvalente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229600" y="491947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284464" y="49377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0058400" y="491947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113264" y="493775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engineering &amp; risques divers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344400" y="491947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399264" y="49377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14173200" y="4919472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4228064" y="4937759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1" name="Rectangle 170"/>
          <p:cNvSpPr/>
          <p:nvPr/>
        </p:nvSpPr>
        <p:spPr>
          <a:xfrm>
            <a:off x="15819120" y="4919472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873984" y="4937759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914400" y="5266944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264" y="528523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00800" y="52669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455664" y="52852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Equipe Polyvalente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229600" y="52669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284464" y="52852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10058400" y="526694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113264" y="528523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incendie &amp; RC : offres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2344400" y="52669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2399264" y="52852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3" name="Rectangle 182"/>
          <p:cNvSpPr/>
          <p:nvPr/>
        </p:nvSpPr>
        <p:spPr>
          <a:xfrm>
            <a:off x="14173200" y="5266944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228064" y="5285231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15819120" y="5266944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873984" y="5285231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914400" y="561441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69264" y="563270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00800" y="56144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455664" y="56327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Equipe Polyvalente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229600" y="56144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284464" y="56327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0058400" y="561441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113264" y="56327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Souscription prévention et Visites de Risques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2344400" y="56144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2399264" y="56327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7" name="Rectangle 196"/>
          <p:cNvSpPr/>
          <p:nvPr/>
        </p:nvSpPr>
        <p:spPr>
          <a:xfrm>
            <a:off x="14173200" y="5614416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4228064" y="563270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9" name="Rectangle 198"/>
          <p:cNvSpPr/>
          <p:nvPr/>
        </p:nvSpPr>
        <p:spPr>
          <a:xfrm>
            <a:off x="15819120" y="5614416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5873984" y="563270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1" name="Rectangle 200"/>
          <p:cNvSpPr/>
          <p:nvPr/>
        </p:nvSpPr>
        <p:spPr>
          <a:xfrm>
            <a:off x="914400" y="596188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69264" y="598017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400800" y="59618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455664" y="59801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ZGAYAA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229600" y="59618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284464" y="59801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Aymen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058400" y="596188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0113264" y="598017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Instruction des dossiers (Automobile)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2344400" y="59618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2399264" y="59801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Gestionnaire PEC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4173200" y="5961888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4228064" y="598017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18 ans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5819120" y="5961888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5873984" y="598017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JEBRI Taoufik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4400" y="630936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69264" y="632764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400800" y="630936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455664" y="632764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ZORMATI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229600" y="630936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284464" y="632764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Anis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058400" y="630936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113264" y="632764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Instruction des dossiers (Automobile)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2344400" y="630936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2399264" y="632764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Prestation Automobile Matériel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4173200" y="6309360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4228064" y="632764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18 ans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5819120" y="6309360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873984" y="6327648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Seiffedine GHEDIRI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14400" y="665683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69264" y="667512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400800" y="665683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455664" y="667512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MAAOUIA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229600" y="665683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284464" y="667512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Adel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058400" y="665683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113264" y="667512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Instruction des dossiers (Automobile)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2344400" y="665683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2399264" y="667512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4173200" y="6656832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4228064" y="667512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30 ans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5819120" y="6656832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5873984" y="667512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ZORMATI Anis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Liste des Collaborateurs Clés par structure (3/4)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Nom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Prénom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09728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04120" y="111556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Fonction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901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Poste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0" y="1097280"/>
            <a:ext cx="162763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18920" y="1115568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Ancienneté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19120" y="1097280"/>
            <a:ext cx="24505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864840" y="1115568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Suppléant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4447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14630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SEBISSI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4447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3264" y="14630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Instruction des dossiers (risque d’entreprise)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992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Prestation Amiable et Contentieux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0" y="1444752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28064" y="146304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25 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819120" y="1444752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73984" y="1463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Borhène SOMAI
KARRA Slim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1792224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181051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KARRA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Slim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17922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13264" y="18105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Contentieux Entreprise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44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992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Ctx Entreprise et Auto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173200" y="1792224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228064" y="181051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 ans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819120" y="1792224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873984" y="181051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Sonia Ghommidh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396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15798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YAHYAOUI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44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Achref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0" y="21396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13264" y="215798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Transactions Corporels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444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3992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173200" y="2139696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228064" y="215798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 ans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819120" y="2139696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73984" y="215798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LASSAD Farah (Pouvoir de signature)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24871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" y="25054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556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KARRA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44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Slim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58400" y="24871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13264" y="250545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Contentieux Corporel +Matériel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3444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3992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Ctx Entreprise et Auto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173200" y="2487168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228064" y="250545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15 ans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819120" y="2487168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873984" y="250545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Mouna KHALADI (Pouvoir de signature)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" y="283464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9264" y="285292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28346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55664" y="285292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Yahyaoui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28346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84464" y="285292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Achref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58400" y="283464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13264" y="285292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Inventaire permanent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44400" y="283464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399264" y="285292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173200" y="2834640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228064" y="285292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14 ans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819120" y="2834640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873984" y="2852928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Baccouche Manel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4400" y="318211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9264" y="320040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0" y="31821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55664" y="320040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Hlaili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29600" y="31821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84464" y="320040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Mohamed Sami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0" y="318211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113264" y="32004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Actuariat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344400" y="318211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399264" y="320040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173200" y="3182112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228064" y="320040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13 ans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819120" y="3182112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873984" y="320040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Intibeh Belibria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4400" y="3529584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9264" y="354787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0" y="35295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55664" y="35478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OUNI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229600" y="35295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84464" y="35478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LAMIA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058400" y="3529584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13264" y="354787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Gestion de la paie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344400" y="3529584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399264" y="354787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Cheffe service Principale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4173200" y="3529584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228064" y="354787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15 ans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819120" y="3529584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73984" y="354787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Najwa OUSELATI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3877056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389534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0" y="38770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55664" y="38953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TOUKABRI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229600" y="38770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84464" y="38953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FAKHER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58400" y="387705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113264" y="389534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344400" y="3877056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399264" y="389534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173200" y="3877056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228064" y="389534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 ans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819120" y="3877056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873984" y="389534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Mohamed ZOUARI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4224528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9264" y="424281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0800" y="42245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55664" y="42428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ZOUAOUI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229600" y="42245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284464" y="42428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Sameh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0" y="422452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113264" y="424281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Sociale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2344400" y="4224528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399264" y="424281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Cheffe de division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4173200" y="4224528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228064" y="424281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25 ans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5819120" y="4224528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5873984" y="424281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Ahmed Garbouj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4400" y="4572000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9264" y="459028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0" y="45720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455664" y="45902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GHRIBI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229600" y="45720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284464" y="45902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Ahmed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058400" y="4572000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113264" y="459028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Achat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344400" y="4572000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399264" y="459028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Collaborateur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173200" y="4572000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4228064" y="459028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 ans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819120" y="4572000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873984" y="4590288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FAKHER TOUKABRI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4400" y="491947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69264" y="4937759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0" y="491947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55664" y="49377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NAIMI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229600" y="491947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284464" y="49377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Wiem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058400" y="491947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113264" y="493775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Par automobile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344400" y="491947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399264" y="4937759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Collaborateur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4173200" y="4919472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4228064" y="4937759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15 ans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819120" y="4919472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873984" y="4937759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Ahmed GHRIBI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4400" y="5266944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264" y="528523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00800" y="52669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455664" y="52852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ALLOUCH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229600" y="52669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284464" y="52852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Lilia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058400" y="526694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113264" y="528523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Formation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2344400" y="526694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2399264" y="5285231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Cheffe de service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4173200" y="5266944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228064" y="5285231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 ans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5819120" y="5266944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873984" y="5285231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Najwa OUSELATI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14400" y="561441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69264" y="563270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00800" y="56144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455664" y="56327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BEN NASR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229600" y="56144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284464" y="56327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Hichem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058400" y="561441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113264" y="56327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Production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2344400" y="561441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2399264" y="563270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Contrôle et production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4173200" y="5614416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4228064" y="563270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28 ans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5819120" y="5614416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5873984" y="563270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ZAIER NISSAF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14400" y="596188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69264" y="598017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400800" y="59618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455664" y="59801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GUELLOUZ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229600" y="59618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284464" y="59801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Jouda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058400" y="596188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0113264" y="598017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Inspection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2344400" y="596188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2399264" y="598017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Inspection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4173200" y="5961888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4228064" y="598017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30 ans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5819120" y="5961888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5873984" y="598017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Talel HAMMEMI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4400" y="6309360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69264" y="6327648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400800" y="630936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455664" y="632764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KAMOUN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229600" y="630936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284464" y="632764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Slim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058400" y="630936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113264" y="632764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2344400" y="6309360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2399264" y="6327648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Chef de division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4173200" y="6309360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4228064" y="632764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 ans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5819120" y="6309360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873984" y="6327648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Abdessalem BOUBERTAKH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14400" y="6656832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69264" y="667512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400800" y="665683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455664" y="667512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HAJ ALI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229600" y="665683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284464" y="667512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Samia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058400" y="665683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113264" y="667512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2344400" y="6656832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2399264" y="667512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Collaborateur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4173200" y="6656832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4228064" y="667512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26 ans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5819120" y="6656832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5873984" y="667512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Najoua BEN AMMAR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Liste des Collaborateurs Clés par structure (4/4)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54681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Nom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Prénom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09728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04120" y="111556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Fonction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0" y="1097280"/>
            <a:ext cx="18105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90120" y="111556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Poste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0" y="1097280"/>
            <a:ext cx="162763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18920" y="1115568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Ancienneté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19120" y="1097280"/>
            <a:ext cx="24505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864840" y="1115568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Suppléant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444752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146304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HADJ ALI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Semia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4447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3264" y="14630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0" y="1444752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99264" y="14630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Directeur Adjoint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0" y="1444752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28064" y="146304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29 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819120" y="1444752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73984" y="1463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Sarra KOUKI (Santé Internationale)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1792224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1810512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HOURIA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Yassine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17922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13264" y="18105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animation du réseau &amp; appels d’offres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4400" y="1792224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99264" y="181051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animation du réseau &amp; appels d’offres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173200" y="1792224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228064" y="181051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23 ans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819120" y="1792224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873984" y="181051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Mayssa GHRIBI
(Appels d’offre)
Jihen BEN AMARA
Majed MRABET (animation du réseau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39696"/>
            <a:ext cx="54681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2157984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BEN NSIR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44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Walid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0" y="21396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13264" y="215798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Marketing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44400" y="2139696"/>
            <a:ext cx="18105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399264" y="215798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Responsable Marketing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173200" y="2139696"/>
            <a:ext cx="162763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228064" y="215798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 ans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819120" y="2139696"/>
            <a:ext cx="24505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73984" y="2157984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Sarra KHEMIRI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2487168"/>
            <a:ext cx="54681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" y="25054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556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Equipe polyvalente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44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10058400" y="24871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13264" y="250545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Vente et prospection à travers les futurs agents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344400" y="2487168"/>
            <a:ext cx="18105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399264" y="2505456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14173200" y="2487168"/>
            <a:ext cx="162763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228064" y="250545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15819120" y="2487168"/>
            <a:ext cx="24505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873984" y="250545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AEA8"/>
                </a:solidFill>
                <a:latin typeface="Calibri"/>
              </a:rPr>
              <a:t>AI-driven tech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Documents critiques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8961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34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Documents critiques dupliqués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09728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11556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Document / Fichier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0" y="109728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32920" y="111556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Type stockage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0" y="1097280"/>
            <a:ext cx="3639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18920" y="1115568"/>
            <a:ext cx="3547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Modalité duplication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44475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14630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4447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2864" y="14630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0" y="14447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42064" y="14630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0" y="1444752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28064" y="146304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79222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8105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79222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2864" y="181051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Dossiers des chèques impayés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7922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105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/ 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0" y="1792224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228064" y="1810512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13969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215798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1396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2864" y="215798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7200" y="21396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42064" y="215798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0" y="2139696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28064" y="215798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48716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0545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Direction Comptabilité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24871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12864" y="25054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Factures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887200" y="24871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942064" y="250545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173200" y="2487168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228064" y="2505456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Bureau d'Ordre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283464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285292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28346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12864" y="285292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Quittances Signées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200" y="283464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942064" y="285292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173200" y="2834640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228064" y="2852928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318211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" y="320040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31821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12864" y="32004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Constats / Contestations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887200" y="318211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942064" y="32004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/ 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173200" y="3182112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228064" y="320040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AVERROES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352958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" y="354787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8000" y="352958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12864" y="354787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529584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54787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173200" y="3529584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228064" y="3547872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387705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" y="389534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387705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12864" y="389534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887200" y="387705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942064" y="389534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173200" y="3877056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228064" y="389534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422452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424281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58000" y="422452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12864" y="424281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Dossiers d’Investissement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0" y="422452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942064" y="424281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173200" y="4224528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228064" y="4242816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14400" y="457200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9264" y="459028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4572000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12864" y="459028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One Drive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887200" y="4572000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942064" y="459028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173200" y="4572000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228064" y="4590288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914400" y="491947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9264" y="493775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858000" y="491947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12864" y="493775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Avenants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887200" y="491947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942064" y="493775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E/P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173200" y="4919472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228064" y="4937759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" y="526694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9264" y="528523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58000" y="526694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12864" y="528523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TUNFILE (MEDPoste, AS)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526694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528523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173200" y="5266944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228064" y="5285231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TUNFILE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61441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9264" y="563270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58000" y="561441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12864" y="563270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Fiches de dépenses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887200" y="561441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942064" y="56327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173200" y="5614416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4228064" y="563270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96188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98017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858000" y="596188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12864" y="598017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Factures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887200" y="596188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942064" y="598017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4173200" y="5961888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4228064" y="5980176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5" name="Rectangle 124"/>
          <p:cNvSpPr/>
          <p:nvPr/>
        </p:nvSpPr>
        <p:spPr>
          <a:xfrm>
            <a:off x="914400" y="630936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9264" y="632764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58000" y="630936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12864" y="632764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887200" y="630936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942064" y="632764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4173200" y="6309360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4228064" y="6327648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914400" y="665683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69264" y="667512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58000" y="665683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12864" y="667512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Contrats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887200" y="665683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942064" y="667512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/ 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4173200" y="6656832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4228064" y="667512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Documents critiques dupliqués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09728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11556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Document / Fichier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0" y="109728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32920" y="111556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Type stockage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0" y="1097280"/>
            <a:ext cx="3639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18920" y="1115568"/>
            <a:ext cx="3547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Modalité duplication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44475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14630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4447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2864" y="14630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0" y="14447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42064" y="14630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0" y="1444752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28064" y="146304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79222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8105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79222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2864" y="181051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7922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105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0" y="1792224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228064" y="1810512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13969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215798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1396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2864" y="215798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7200" y="21396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42064" y="215798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0" y="2139696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28064" y="215798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48716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0545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24871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12864" y="25054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887200" y="24871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942064" y="250545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173200" y="2487168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228064" y="2505456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283464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285292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28346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12864" y="285292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de partage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200" y="283464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942064" y="285292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173200" y="2834640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228064" y="2852928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318211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" y="320040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31821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12864" y="32004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Fiches de postes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887200" y="318211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942064" y="32004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/ 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173200" y="3182112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228064" y="320040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352958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" y="354787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8000" y="352958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12864" y="354787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Manuels de procédure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529584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54787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/ 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173200" y="3529584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228064" y="3547872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387705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" y="389534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387705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12864" y="389534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Référentiels de compétences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887200" y="387705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942064" y="389534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/ 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173200" y="3877056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228064" y="389534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422452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424281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58000" y="422452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12864" y="424281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Evaluation des performances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0" y="422452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942064" y="424281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/ 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173200" y="4224528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228064" y="4242816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14400" y="457200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9264" y="459028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Transport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4572000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12864" y="459028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Carnets Avis d’aliment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887200" y="4572000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942064" y="459028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/ 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173200" y="4572000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228064" y="4590288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4400" y="491947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9264" y="493775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Réassurance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858000" y="491947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12864" y="493775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SharePoint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887200" y="491947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942064" y="493775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173200" y="4919472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228064" y="4937759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" y="526694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9264" y="528523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Santé Internationale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58000" y="526694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12864" y="528523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Fichier de Tarification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526694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528523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173200" y="5266944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228064" y="5285231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GAT21/SharePoint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61441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9264" y="563270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58000" y="561441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12864" y="563270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partagé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887200" y="561441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942064" y="56327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173200" y="5614416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4228064" y="563270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One Drive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Documents critiques non dupliqués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5925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097280"/>
            <a:ext cx="50109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11556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Document / Fichier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0" y="1097280"/>
            <a:ext cx="2267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32920" y="111556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Type stockage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0" y="1097280"/>
            <a:ext cx="36393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18920" y="1115568"/>
            <a:ext cx="3547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Modalité duplication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44475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146304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44475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2864" y="146304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Polices Classées au niveau du siège (Patrimoines, Collectives)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0" y="144475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42064" y="146304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0" y="1444752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28064" y="146304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79222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181051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79222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2864" y="181051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Bulletins de soins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179222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42064" y="181051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0" y="1792224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228064" y="1810512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13969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215798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13969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2864" y="215798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Fiches d’affiliations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7200" y="213969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42064" y="215798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0" y="2139696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28064" y="215798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48716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250545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248716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12864" y="250545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Documents de mise à jour des adhésions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887200" y="248716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942064" y="250545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173200" y="2487168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228064" y="2505456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2834640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285292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2834640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12864" y="285292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Déclarations de salaires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200" y="2834640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942064" y="285292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173200" y="2834640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228064" y="2852928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3182112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" y="3200400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3182112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12864" y="3200400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Bordereaux de réclamations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887200" y="3182112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942064" y="32004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173200" y="3182112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228064" y="320040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3529584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" y="3547872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8000" y="3529584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12864" y="3547872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Dossiers Sinistres Incapacité/Invalidité/Décès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0" y="3529584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942064" y="3547872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173200" y="3529584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228064" y="3547872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3877056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" y="389534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3877056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12864" y="389534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Attestations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887200" y="3877056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942064" y="389534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173200" y="3877056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228064" y="389534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4224528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424281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58000" y="4224528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12864" y="424281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Contrats signés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0" y="4224528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942064" y="424281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173200" y="4224528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228064" y="4242816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914400" y="4572000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9264" y="4590288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4572000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12864" y="4590288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 Sinistre au niveau du siège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887200" y="4572000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942064" y="4590288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173200" y="4572000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228064" y="4590288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914400" y="4919472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9264" y="4937759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858000" y="4919472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12864" y="4937759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Original des Assignations/Jugements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887200" y="4919472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942064" y="4937759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173200" y="4919472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228064" y="4937759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" y="5266944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9264" y="5285231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58000" y="5266944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12864" y="5285231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P.V de transaction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0" y="5266944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942064" y="5285231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173200" y="5266944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228064" y="5285231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614416"/>
            <a:ext cx="5925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9264" y="5632704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58000" y="5614416"/>
            <a:ext cx="50109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12864" y="5632704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Dossiers de Souscription pour la Cellule de Surveillance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887200" y="5614416"/>
            <a:ext cx="2267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942064" y="56327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173200" y="5614416"/>
            <a:ext cx="36393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4228064" y="563270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5961888"/>
            <a:ext cx="5925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980176"/>
            <a:ext cx="5815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858000" y="5961888"/>
            <a:ext cx="50109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12864" y="598017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Historique CNSS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887200" y="5961888"/>
            <a:ext cx="2267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942064" y="5980176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E / P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4173200" y="5961888"/>
            <a:ext cx="36393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4228064" y="5980176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SharePoint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AEA8"/>
                </a:solidFill>
                <a:latin typeface="Calibri"/>
              </a:rPr>
              <a:t>AI-driven tech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Équipements nécessaires à la 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8961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34E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Équipements nécessaires à la reprise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4553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4462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Désignation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H+2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H+4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988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4712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7008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1580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9304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3876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0" y="109728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61720" y="111556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144475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14630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 MG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126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718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014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3310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606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7902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0198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1207008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12494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1289304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94790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0" y="144475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70864" y="14630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176479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" y="178308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 direction commerciale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4126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422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8718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795528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1014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7824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3310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5606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1042416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7902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124712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0198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1207008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12494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1289304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94790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00" y="176479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770864" y="17830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208483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210312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 département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4126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6422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713232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8718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795528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1014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7824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3310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960120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5606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1042416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7902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124712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30198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1207008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12494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289304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94790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00" y="208483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770864" y="210312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" y="240487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9264" y="242316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 département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54126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630936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6422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7" name="Rectangle 106"/>
          <p:cNvSpPr/>
          <p:nvPr/>
        </p:nvSpPr>
        <p:spPr>
          <a:xfrm>
            <a:off x="713232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8718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8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1014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77824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3310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0120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5606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1042416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47902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1124712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30198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1207008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12494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1289304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94790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00" y="24048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770864" y="24231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4400" y="272491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9264" y="274320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 département (GAT Assurance / GAT Vie)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54126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630936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36422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713232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18718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795528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01014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83310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0120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5606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1042416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47902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1" name="Rectangle 140"/>
          <p:cNvSpPr/>
          <p:nvPr/>
        </p:nvSpPr>
        <p:spPr>
          <a:xfrm>
            <a:off x="1124712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30198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1207008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212494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1289304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94790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13716000" y="27249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3770864" y="27432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14400" y="304495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69264" y="30632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 humide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8640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54126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630936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6422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713232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18718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795528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1014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77824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83310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0120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5606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1042416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47902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124712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30198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1207008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12494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1289304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294790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1" name="Rectangle 170"/>
          <p:cNvSpPr/>
          <p:nvPr/>
        </p:nvSpPr>
        <p:spPr>
          <a:xfrm>
            <a:off x="1371600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377086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4400" y="3364991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264" y="338327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 nominatif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48640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54126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630936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36422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713232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8718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795528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01014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77824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83310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0120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65606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1042416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47902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1124712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30198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1" name="Rectangle 190"/>
          <p:cNvSpPr/>
          <p:nvPr/>
        </p:nvSpPr>
        <p:spPr>
          <a:xfrm>
            <a:off x="1207008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212494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289304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294790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13716000" y="3364991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3770864" y="338327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14400" y="3685031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69264" y="370331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Cachets humides GAT Réassurance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48640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54126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1" name="Rectangle 200"/>
          <p:cNvSpPr/>
          <p:nvPr/>
        </p:nvSpPr>
        <p:spPr>
          <a:xfrm>
            <a:off x="630936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36422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3" name="Rectangle 202"/>
          <p:cNvSpPr/>
          <p:nvPr/>
        </p:nvSpPr>
        <p:spPr>
          <a:xfrm>
            <a:off x="713232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18718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5" name="Rectangle 204"/>
          <p:cNvSpPr/>
          <p:nvPr/>
        </p:nvSpPr>
        <p:spPr>
          <a:xfrm>
            <a:off x="795528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01014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877824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83310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9" name="Rectangle 208"/>
          <p:cNvSpPr/>
          <p:nvPr/>
        </p:nvSpPr>
        <p:spPr>
          <a:xfrm>
            <a:off x="960120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65606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1" name="Rectangle 210"/>
          <p:cNvSpPr/>
          <p:nvPr/>
        </p:nvSpPr>
        <p:spPr>
          <a:xfrm>
            <a:off x="1042416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47902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3" name="Rectangle 212"/>
          <p:cNvSpPr/>
          <p:nvPr/>
        </p:nvSpPr>
        <p:spPr>
          <a:xfrm>
            <a:off x="1124712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130198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1207008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212494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289304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294790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9" name="Rectangle 218"/>
          <p:cNvSpPr/>
          <p:nvPr/>
        </p:nvSpPr>
        <p:spPr>
          <a:xfrm>
            <a:off x="13716000" y="3685031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3770864" y="370331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14400" y="400507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69264" y="402335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Cachets humides GAT Transport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48640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54126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25" name="Rectangle 224"/>
          <p:cNvSpPr/>
          <p:nvPr/>
        </p:nvSpPr>
        <p:spPr>
          <a:xfrm>
            <a:off x="630936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36422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27" name="Rectangle 226"/>
          <p:cNvSpPr/>
          <p:nvPr/>
        </p:nvSpPr>
        <p:spPr>
          <a:xfrm>
            <a:off x="713232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18718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29" name="Rectangle 228"/>
          <p:cNvSpPr/>
          <p:nvPr/>
        </p:nvSpPr>
        <p:spPr>
          <a:xfrm>
            <a:off x="795528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01014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877824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83310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3" name="Rectangle 232"/>
          <p:cNvSpPr/>
          <p:nvPr/>
        </p:nvSpPr>
        <p:spPr>
          <a:xfrm>
            <a:off x="960120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965606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5" name="Rectangle 234"/>
          <p:cNvSpPr/>
          <p:nvPr/>
        </p:nvSpPr>
        <p:spPr>
          <a:xfrm>
            <a:off x="1042416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47902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7" name="Rectangle 236"/>
          <p:cNvSpPr/>
          <p:nvPr/>
        </p:nvSpPr>
        <p:spPr>
          <a:xfrm>
            <a:off x="1124712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130198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9" name="Rectangle 238"/>
          <p:cNvSpPr/>
          <p:nvPr/>
        </p:nvSpPr>
        <p:spPr>
          <a:xfrm>
            <a:off x="1207008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212494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41" name="Rectangle 240"/>
          <p:cNvSpPr/>
          <p:nvPr/>
        </p:nvSpPr>
        <p:spPr>
          <a:xfrm>
            <a:off x="1289304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294790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43" name="Rectangle 242"/>
          <p:cNvSpPr/>
          <p:nvPr/>
        </p:nvSpPr>
        <p:spPr>
          <a:xfrm>
            <a:off x="13716000" y="400507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3770864" y="402335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14400" y="432511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69264" y="434340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Cachets humides RH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48640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554126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49" name="Rectangle 248"/>
          <p:cNvSpPr/>
          <p:nvPr/>
        </p:nvSpPr>
        <p:spPr>
          <a:xfrm>
            <a:off x="630936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6422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51" name="Rectangle 250"/>
          <p:cNvSpPr/>
          <p:nvPr/>
        </p:nvSpPr>
        <p:spPr>
          <a:xfrm>
            <a:off x="713232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718718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53" name="Rectangle 252"/>
          <p:cNvSpPr/>
          <p:nvPr/>
        </p:nvSpPr>
        <p:spPr>
          <a:xfrm>
            <a:off x="795528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01014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55" name="Rectangle 254"/>
          <p:cNvSpPr/>
          <p:nvPr/>
        </p:nvSpPr>
        <p:spPr>
          <a:xfrm>
            <a:off x="877824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83310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57" name="Rectangle 256"/>
          <p:cNvSpPr/>
          <p:nvPr/>
        </p:nvSpPr>
        <p:spPr>
          <a:xfrm>
            <a:off x="960120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65606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59" name="Rectangle 258"/>
          <p:cNvSpPr/>
          <p:nvPr/>
        </p:nvSpPr>
        <p:spPr>
          <a:xfrm>
            <a:off x="1042416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047902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124712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130198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63" name="Rectangle 262"/>
          <p:cNvSpPr/>
          <p:nvPr/>
        </p:nvSpPr>
        <p:spPr>
          <a:xfrm>
            <a:off x="1207008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212494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65" name="Rectangle 264"/>
          <p:cNvSpPr/>
          <p:nvPr/>
        </p:nvSpPr>
        <p:spPr>
          <a:xfrm>
            <a:off x="1289304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294790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67" name="Rectangle 266"/>
          <p:cNvSpPr/>
          <p:nvPr/>
        </p:nvSpPr>
        <p:spPr>
          <a:xfrm>
            <a:off x="13716000" y="432511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3770864" y="43434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914400" y="464515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969264" y="46634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Carnet de pièces comptables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48640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554126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3" name="Rectangle 272"/>
          <p:cNvSpPr/>
          <p:nvPr/>
        </p:nvSpPr>
        <p:spPr>
          <a:xfrm>
            <a:off x="630936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36422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5" name="Rectangle 274"/>
          <p:cNvSpPr/>
          <p:nvPr/>
        </p:nvSpPr>
        <p:spPr>
          <a:xfrm>
            <a:off x="713232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718718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7" name="Rectangle 276"/>
          <p:cNvSpPr/>
          <p:nvPr/>
        </p:nvSpPr>
        <p:spPr>
          <a:xfrm>
            <a:off x="795528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801014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9" name="Rectangle 278"/>
          <p:cNvSpPr/>
          <p:nvPr/>
        </p:nvSpPr>
        <p:spPr>
          <a:xfrm>
            <a:off x="877824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883310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81" name="Rectangle 280"/>
          <p:cNvSpPr/>
          <p:nvPr/>
        </p:nvSpPr>
        <p:spPr>
          <a:xfrm>
            <a:off x="960120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965606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83" name="Rectangle 282"/>
          <p:cNvSpPr/>
          <p:nvPr/>
        </p:nvSpPr>
        <p:spPr>
          <a:xfrm>
            <a:off x="1042416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047902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1124712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130198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87" name="Rectangle 286"/>
          <p:cNvSpPr/>
          <p:nvPr/>
        </p:nvSpPr>
        <p:spPr>
          <a:xfrm>
            <a:off x="1207008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212494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89" name="Rectangle 288"/>
          <p:cNvSpPr/>
          <p:nvPr/>
        </p:nvSpPr>
        <p:spPr>
          <a:xfrm>
            <a:off x="1289304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294790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91" name="Rectangle 290"/>
          <p:cNvSpPr/>
          <p:nvPr/>
        </p:nvSpPr>
        <p:spPr>
          <a:xfrm>
            <a:off x="13716000" y="464515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3770864" y="46634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914400" y="496519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969264" y="498347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Carnet de pièces de règlements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548640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554126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97" name="Rectangle 296"/>
          <p:cNvSpPr/>
          <p:nvPr/>
        </p:nvSpPr>
        <p:spPr>
          <a:xfrm>
            <a:off x="630936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636422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99" name="Rectangle 298"/>
          <p:cNvSpPr/>
          <p:nvPr/>
        </p:nvSpPr>
        <p:spPr>
          <a:xfrm>
            <a:off x="713232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718718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01" name="Rectangle 300"/>
          <p:cNvSpPr/>
          <p:nvPr/>
        </p:nvSpPr>
        <p:spPr>
          <a:xfrm>
            <a:off x="795528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801014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03" name="Rectangle 302"/>
          <p:cNvSpPr/>
          <p:nvPr/>
        </p:nvSpPr>
        <p:spPr>
          <a:xfrm>
            <a:off x="877824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883310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05" name="Rectangle 304"/>
          <p:cNvSpPr/>
          <p:nvPr/>
        </p:nvSpPr>
        <p:spPr>
          <a:xfrm>
            <a:off x="960120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965606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07" name="Rectangle 306"/>
          <p:cNvSpPr/>
          <p:nvPr/>
        </p:nvSpPr>
        <p:spPr>
          <a:xfrm>
            <a:off x="1042416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047902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1124712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130198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11" name="Rectangle 310"/>
          <p:cNvSpPr/>
          <p:nvPr/>
        </p:nvSpPr>
        <p:spPr>
          <a:xfrm>
            <a:off x="1207008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212494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13" name="Rectangle 312"/>
          <p:cNvSpPr/>
          <p:nvPr/>
        </p:nvSpPr>
        <p:spPr>
          <a:xfrm>
            <a:off x="1289304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294790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13716000" y="496519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3770864" y="498347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14400" y="5285231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969264" y="530351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Casque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48640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554126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21" name="Rectangle 320"/>
          <p:cNvSpPr/>
          <p:nvPr/>
        </p:nvSpPr>
        <p:spPr>
          <a:xfrm>
            <a:off x="630936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636422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23" name="Rectangle 322"/>
          <p:cNvSpPr/>
          <p:nvPr/>
        </p:nvSpPr>
        <p:spPr>
          <a:xfrm>
            <a:off x="713232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718718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25" name="Rectangle 324"/>
          <p:cNvSpPr/>
          <p:nvPr/>
        </p:nvSpPr>
        <p:spPr>
          <a:xfrm>
            <a:off x="795528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801014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877824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883310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960120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65606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042416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047902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3" name="Rectangle 332"/>
          <p:cNvSpPr/>
          <p:nvPr/>
        </p:nvSpPr>
        <p:spPr>
          <a:xfrm>
            <a:off x="1124712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130198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5" name="Rectangle 334"/>
          <p:cNvSpPr/>
          <p:nvPr/>
        </p:nvSpPr>
        <p:spPr>
          <a:xfrm>
            <a:off x="1207008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1212494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7" name="Rectangle 336"/>
          <p:cNvSpPr/>
          <p:nvPr/>
        </p:nvSpPr>
        <p:spPr>
          <a:xfrm>
            <a:off x="1289304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1294790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9" name="Rectangle 338"/>
          <p:cNvSpPr/>
          <p:nvPr/>
        </p:nvSpPr>
        <p:spPr>
          <a:xfrm>
            <a:off x="13716000" y="5285231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13770864" y="530351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914400" y="560527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969264" y="562355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Chéquiers GAT Vie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548640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554126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45" name="Rectangle 344"/>
          <p:cNvSpPr/>
          <p:nvPr/>
        </p:nvSpPr>
        <p:spPr>
          <a:xfrm>
            <a:off x="630936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36422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47" name="Rectangle 346"/>
          <p:cNvSpPr/>
          <p:nvPr/>
        </p:nvSpPr>
        <p:spPr>
          <a:xfrm>
            <a:off x="713232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718718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49" name="Rectangle 348"/>
          <p:cNvSpPr/>
          <p:nvPr/>
        </p:nvSpPr>
        <p:spPr>
          <a:xfrm>
            <a:off x="795528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801014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77824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83310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53" name="Rectangle 352"/>
          <p:cNvSpPr/>
          <p:nvPr/>
        </p:nvSpPr>
        <p:spPr>
          <a:xfrm>
            <a:off x="960120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965606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55" name="Rectangle 354"/>
          <p:cNvSpPr/>
          <p:nvPr/>
        </p:nvSpPr>
        <p:spPr>
          <a:xfrm>
            <a:off x="1042416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047902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57" name="Rectangle 356"/>
          <p:cNvSpPr/>
          <p:nvPr/>
        </p:nvSpPr>
        <p:spPr>
          <a:xfrm>
            <a:off x="1124712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1130198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59" name="Rectangle 358"/>
          <p:cNvSpPr/>
          <p:nvPr/>
        </p:nvSpPr>
        <p:spPr>
          <a:xfrm>
            <a:off x="1207008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1212494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61" name="Rectangle 360"/>
          <p:cNvSpPr/>
          <p:nvPr/>
        </p:nvSpPr>
        <p:spPr>
          <a:xfrm>
            <a:off x="1289304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1294790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63" name="Rectangle 362"/>
          <p:cNvSpPr/>
          <p:nvPr/>
        </p:nvSpPr>
        <p:spPr>
          <a:xfrm>
            <a:off x="13716000" y="56052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13770864" y="562355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914400" y="592531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969264" y="594359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Coffre-fort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548640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554126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69" name="Rectangle 368"/>
          <p:cNvSpPr/>
          <p:nvPr/>
        </p:nvSpPr>
        <p:spPr>
          <a:xfrm>
            <a:off x="630936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636422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1" name="Rectangle 370"/>
          <p:cNvSpPr/>
          <p:nvPr/>
        </p:nvSpPr>
        <p:spPr>
          <a:xfrm>
            <a:off x="713232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718718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3" name="Rectangle 372"/>
          <p:cNvSpPr/>
          <p:nvPr/>
        </p:nvSpPr>
        <p:spPr>
          <a:xfrm>
            <a:off x="795528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801014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5" name="Rectangle 374"/>
          <p:cNvSpPr/>
          <p:nvPr/>
        </p:nvSpPr>
        <p:spPr>
          <a:xfrm>
            <a:off x="877824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883310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960120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965606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9" name="Rectangle 378"/>
          <p:cNvSpPr/>
          <p:nvPr/>
        </p:nvSpPr>
        <p:spPr>
          <a:xfrm>
            <a:off x="1042416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1047902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81" name="Rectangle 380"/>
          <p:cNvSpPr/>
          <p:nvPr/>
        </p:nvSpPr>
        <p:spPr>
          <a:xfrm>
            <a:off x="1124712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1130198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83" name="Rectangle 382"/>
          <p:cNvSpPr/>
          <p:nvPr/>
        </p:nvSpPr>
        <p:spPr>
          <a:xfrm>
            <a:off x="1207008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1212494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85" name="Rectangle 384"/>
          <p:cNvSpPr/>
          <p:nvPr/>
        </p:nvSpPr>
        <p:spPr>
          <a:xfrm>
            <a:off x="1289304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294790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87" name="Rectangle 386"/>
          <p:cNvSpPr/>
          <p:nvPr/>
        </p:nvSpPr>
        <p:spPr>
          <a:xfrm>
            <a:off x="13716000" y="5925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13770864" y="594359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914400" y="624535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969264" y="62636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Cote sinistre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548640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554126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93" name="Rectangle 392"/>
          <p:cNvSpPr/>
          <p:nvPr/>
        </p:nvSpPr>
        <p:spPr>
          <a:xfrm>
            <a:off x="630936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636422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95" name="Rectangle 394"/>
          <p:cNvSpPr/>
          <p:nvPr/>
        </p:nvSpPr>
        <p:spPr>
          <a:xfrm>
            <a:off x="713232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718718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97" name="Rectangle 396"/>
          <p:cNvSpPr/>
          <p:nvPr/>
        </p:nvSpPr>
        <p:spPr>
          <a:xfrm>
            <a:off x="795528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801014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877824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883310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100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960120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965606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03" name="Rectangle 402"/>
          <p:cNvSpPr/>
          <p:nvPr/>
        </p:nvSpPr>
        <p:spPr>
          <a:xfrm>
            <a:off x="1042416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1047902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05" name="Rectangle 404"/>
          <p:cNvSpPr/>
          <p:nvPr/>
        </p:nvSpPr>
        <p:spPr>
          <a:xfrm>
            <a:off x="1124712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1130198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07" name="Rectangle 406"/>
          <p:cNvSpPr/>
          <p:nvPr/>
        </p:nvSpPr>
        <p:spPr>
          <a:xfrm>
            <a:off x="1207008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1212494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09" name="Rectangle 408"/>
          <p:cNvSpPr/>
          <p:nvPr/>
        </p:nvSpPr>
        <p:spPr>
          <a:xfrm>
            <a:off x="1289304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1294790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11" name="Rectangle 410"/>
          <p:cNvSpPr/>
          <p:nvPr/>
        </p:nvSpPr>
        <p:spPr>
          <a:xfrm>
            <a:off x="13716000" y="62453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13770864" y="62636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101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914400" y="656539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969264" y="658367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Fourniture bureautique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548640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554126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17" name="Rectangle 416"/>
          <p:cNvSpPr/>
          <p:nvPr/>
        </p:nvSpPr>
        <p:spPr>
          <a:xfrm>
            <a:off x="630936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636422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19" name="Rectangle 418"/>
          <p:cNvSpPr/>
          <p:nvPr/>
        </p:nvSpPr>
        <p:spPr>
          <a:xfrm>
            <a:off x="713232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718718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21" name="Rectangle 420"/>
          <p:cNvSpPr/>
          <p:nvPr/>
        </p:nvSpPr>
        <p:spPr>
          <a:xfrm>
            <a:off x="795528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801014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877824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883310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25" name="Rectangle 424"/>
          <p:cNvSpPr/>
          <p:nvPr/>
        </p:nvSpPr>
        <p:spPr>
          <a:xfrm>
            <a:off x="960120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965606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27" name="Rectangle 426"/>
          <p:cNvSpPr/>
          <p:nvPr/>
        </p:nvSpPr>
        <p:spPr>
          <a:xfrm>
            <a:off x="1042416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1047902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29" name="Rectangle 428"/>
          <p:cNvSpPr/>
          <p:nvPr/>
        </p:nvSpPr>
        <p:spPr>
          <a:xfrm>
            <a:off x="1124712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1130198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31" name="Rectangle 430"/>
          <p:cNvSpPr/>
          <p:nvPr/>
        </p:nvSpPr>
        <p:spPr>
          <a:xfrm>
            <a:off x="1207008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1212494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33" name="Rectangle 432"/>
          <p:cNvSpPr/>
          <p:nvPr/>
        </p:nvSpPr>
        <p:spPr>
          <a:xfrm>
            <a:off x="1289304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1294790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35" name="Rectangle 434"/>
          <p:cNvSpPr/>
          <p:nvPr/>
        </p:nvSpPr>
        <p:spPr>
          <a:xfrm>
            <a:off x="13716000" y="65653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13770864" y="658367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37" name="Rectangle 436"/>
          <p:cNvSpPr/>
          <p:nvPr/>
        </p:nvSpPr>
        <p:spPr>
          <a:xfrm>
            <a:off x="914400" y="6885431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969264" y="690371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Fourniture bureautique</a:t>
            </a:r>
          </a:p>
        </p:txBody>
      </p:sp>
      <p:sp>
        <p:nvSpPr>
          <p:cNvPr id="439" name="Rectangle 438"/>
          <p:cNvSpPr/>
          <p:nvPr/>
        </p:nvSpPr>
        <p:spPr>
          <a:xfrm>
            <a:off x="548640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554126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41" name="Rectangle 440"/>
          <p:cNvSpPr/>
          <p:nvPr/>
        </p:nvSpPr>
        <p:spPr>
          <a:xfrm>
            <a:off x="630936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636422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43" name="Rectangle 442"/>
          <p:cNvSpPr/>
          <p:nvPr/>
        </p:nvSpPr>
        <p:spPr>
          <a:xfrm>
            <a:off x="713232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718718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45" name="Rectangle 444"/>
          <p:cNvSpPr/>
          <p:nvPr/>
        </p:nvSpPr>
        <p:spPr>
          <a:xfrm>
            <a:off x="795528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801014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877824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883310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449" name="Rectangle 448"/>
          <p:cNvSpPr/>
          <p:nvPr/>
        </p:nvSpPr>
        <p:spPr>
          <a:xfrm>
            <a:off x="960120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965606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1" name="Rectangle 450"/>
          <p:cNvSpPr/>
          <p:nvPr/>
        </p:nvSpPr>
        <p:spPr>
          <a:xfrm>
            <a:off x="1042416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1047902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3" name="Rectangle 452"/>
          <p:cNvSpPr/>
          <p:nvPr/>
        </p:nvSpPr>
        <p:spPr>
          <a:xfrm>
            <a:off x="1124712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1130198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5" name="Rectangle 454"/>
          <p:cNvSpPr/>
          <p:nvPr/>
        </p:nvSpPr>
        <p:spPr>
          <a:xfrm>
            <a:off x="1207008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212494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7" name="Rectangle 456"/>
          <p:cNvSpPr/>
          <p:nvPr/>
        </p:nvSpPr>
        <p:spPr>
          <a:xfrm>
            <a:off x="1289304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1294790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9" name="Rectangle 458"/>
          <p:cNvSpPr/>
          <p:nvPr/>
        </p:nvSpPr>
        <p:spPr>
          <a:xfrm>
            <a:off x="13716000" y="6885431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13770864" y="690371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61" name="Rectangle 460"/>
          <p:cNvSpPr/>
          <p:nvPr/>
        </p:nvSpPr>
        <p:spPr>
          <a:xfrm>
            <a:off x="914400" y="720547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969264" y="722375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Fourniture bureautique (RAME)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548640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554126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65" name="Rectangle 464"/>
          <p:cNvSpPr/>
          <p:nvPr/>
        </p:nvSpPr>
        <p:spPr>
          <a:xfrm>
            <a:off x="630936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636422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67" name="Rectangle 466"/>
          <p:cNvSpPr/>
          <p:nvPr/>
        </p:nvSpPr>
        <p:spPr>
          <a:xfrm>
            <a:off x="713232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718718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69" name="Rectangle 468"/>
          <p:cNvSpPr/>
          <p:nvPr/>
        </p:nvSpPr>
        <p:spPr>
          <a:xfrm>
            <a:off x="795528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801014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1" name="Rectangle 470"/>
          <p:cNvSpPr/>
          <p:nvPr/>
        </p:nvSpPr>
        <p:spPr>
          <a:xfrm>
            <a:off x="877824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883310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3" name="Rectangle 472"/>
          <p:cNvSpPr/>
          <p:nvPr/>
        </p:nvSpPr>
        <p:spPr>
          <a:xfrm>
            <a:off x="960120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965606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5" name="Rectangle 474"/>
          <p:cNvSpPr/>
          <p:nvPr/>
        </p:nvSpPr>
        <p:spPr>
          <a:xfrm>
            <a:off x="1042416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1047902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77" name="Rectangle 476"/>
          <p:cNvSpPr/>
          <p:nvPr/>
        </p:nvSpPr>
        <p:spPr>
          <a:xfrm>
            <a:off x="1124712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1130198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9" name="Rectangle 478"/>
          <p:cNvSpPr/>
          <p:nvPr/>
        </p:nvSpPr>
        <p:spPr>
          <a:xfrm>
            <a:off x="1207008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1212494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81" name="Rectangle 480"/>
          <p:cNvSpPr/>
          <p:nvPr/>
        </p:nvSpPr>
        <p:spPr>
          <a:xfrm>
            <a:off x="1289304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1294790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83" name="Rectangle 482"/>
          <p:cNvSpPr/>
          <p:nvPr/>
        </p:nvSpPr>
        <p:spPr>
          <a:xfrm>
            <a:off x="13716000" y="720547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13770864" y="722375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85" name="Rectangle 484"/>
          <p:cNvSpPr/>
          <p:nvPr/>
        </p:nvSpPr>
        <p:spPr>
          <a:xfrm>
            <a:off x="914400" y="752551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969264" y="754380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Fournitures techniques (conditions générales FDR)</a:t>
            </a:r>
          </a:p>
        </p:txBody>
      </p:sp>
      <p:sp>
        <p:nvSpPr>
          <p:cNvPr id="487" name="Rectangle 486"/>
          <p:cNvSpPr/>
          <p:nvPr/>
        </p:nvSpPr>
        <p:spPr>
          <a:xfrm>
            <a:off x="548640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554126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89" name="Rectangle 488"/>
          <p:cNvSpPr/>
          <p:nvPr/>
        </p:nvSpPr>
        <p:spPr>
          <a:xfrm>
            <a:off x="630936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636422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1" name="Rectangle 490"/>
          <p:cNvSpPr/>
          <p:nvPr/>
        </p:nvSpPr>
        <p:spPr>
          <a:xfrm>
            <a:off x="713232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718718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3" name="Rectangle 492"/>
          <p:cNvSpPr/>
          <p:nvPr/>
        </p:nvSpPr>
        <p:spPr>
          <a:xfrm>
            <a:off x="795528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801014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95" name="Rectangle 494"/>
          <p:cNvSpPr/>
          <p:nvPr/>
        </p:nvSpPr>
        <p:spPr>
          <a:xfrm>
            <a:off x="877824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883310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7" name="Rectangle 496"/>
          <p:cNvSpPr/>
          <p:nvPr/>
        </p:nvSpPr>
        <p:spPr>
          <a:xfrm>
            <a:off x="960120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965606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9" name="Rectangle 498"/>
          <p:cNvSpPr/>
          <p:nvPr/>
        </p:nvSpPr>
        <p:spPr>
          <a:xfrm>
            <a:off x="1042416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1047902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01" name="Rectangle 500"/>
          <p:cNvSpPr/>
          <p:nvPr/>
        </p:nvSpPr>
        <p:spPr>
          <a:xfrm>
            <a:off x="1124712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1130198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03" name="Rectangle 502"/>
          <p:cNvSpPr/>
          <p:nvPr/>
        </p:nvSpPr>
        <p:spPr>
          <a:xfrm>
            <a:off x="1207008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1212494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05" name="Rectangle 504"/>
          <p:cNvSpPr/>
          <p:nvPr/>
        </p:nvSpPr>
        <p:spPr>
          <a:xfrm>
            <a:off x="1289304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1294790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07" name="Rectangle 506"/>
          <p:cNvSpPr/>
          <p:nvPr/>
        </p:nvSpPr>
        <p:spPr>
          <a:xfrm>
            <a:off x="13716000" y="752551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13770864" y="75438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Équipements nécessaires à la reprise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4553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4462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Désignation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H+2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H+4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988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4712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7008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1580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9304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3876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0" y="109728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61720" y="111556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144475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14630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Imprimante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126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718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014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3310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606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7902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0198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1207008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12494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89304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94790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0" y="144475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70864" y="14630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176479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" y="178308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Imprimante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4126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422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8718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795528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1014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877824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3310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5606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1042416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7902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124712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0198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1207008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12494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1289304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94790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00" y="176479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770864" y="17830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208483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210312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Imprimante FTP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4126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6422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713232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8718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795528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1014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7824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3310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960120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5606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1042416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7902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124712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30198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1207008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12494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289304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94790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00" y="208483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770864" y="210312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" y="240487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9264" y="242316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Imprimante MFP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54126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630936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6422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7" name="Rectangle 106"/>
          <p:cNvSpPr/>
          <p:nvPr/>
        </p:nvSpPr>
        <p:spPr>
          <a:xfrm>
            <a:off x="713232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8718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8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1014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77824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3310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960120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5606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1042416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47902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24712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30198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1207008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12494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1289304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94790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00" y="24048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770864" y="24231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4400" y="272491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9264" y="274320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Imprimante lettre chèque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54126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630936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36422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713232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18718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795528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01014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83310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0120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5606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1042416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47902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1" name="Rectangle 140"/>
          <p:cNvSpPr/>
          <p:nvPr/>
        </p:nvSpPr>
        <p:spPr>
          <a:xfrm>
            <a:off x="1124712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30198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1207008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212494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1289304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94790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13716000" y="27249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3770864" y="27432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14400" y="304495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69264" y="30632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Internet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8640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54126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630936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6422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713232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18718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795528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1014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877824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83310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0120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5606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1042416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47902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124712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30198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07008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12494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289304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294790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1" name="Rectangle 170"/>
          <p:cNvSpPr/>
          <p:nvPr/>
        </p:nvSpPr>
        <p:spPr>
          <a:xfrm>
            <a:off x="1371600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377086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4400" y="3364991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264" y="338327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Internet (clé 4G)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48640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54126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630936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36422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713232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8718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795528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01014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77824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83310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0120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65606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42416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47902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1124712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30198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1" name="Rectangle 190"/>
          <p:cNvSpPr/>
          <p:nvPr/>
        </p:nvSpPr>
        <p:spPr>
          <a:xfrm>
            <a:off x="1207008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212494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289304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294790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13716000" y="3364991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3770864" y="338327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14400" y="3685031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69264" y="370331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Internet (clé 4G, modem, etc.)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48640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54126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1" name="Rectangle 200"/>
          <p:cNvSpPr/>
          <p:nvPr/>
        </p:nvSpPr>
        <p:spPr>
          <a:xfrm>
            <a:off x="630936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36422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3" name="Rectangle 202"/>
          <p:cNvSpPr/>
          <p:nvPr/>
        </p:nvSpPr>
        <p:spPr>
          <a:xfrm>
            <a:off x="713232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18718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5" name="Rectangle 204"/>
          <p:cNvSpPr/>
          <p:nvPr/>
        </p:nvSpPr>
        <p:spPr>
          <a:xfrm>
            <a:off x="795528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01014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77824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83310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60120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65606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1" name="Rectangle 210"/>
          <p:cNvSpPr/>
          <p:nvPr/>
        </p:nvSpPr>
        <p:spPr>
          <a:xfrm>
            <a:off x="1042416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47902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124712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130198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207008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212494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7" name="Rectangle 216"/>
          <p:cNvSpPr/>
          <p:nvPr/>
        </p:nvSpPr>
        <p:spPr>
          <a:xfrm>
            <a:off x="1289304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294790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9" name="Rectangle 218"/>
          <p:cNvSpPr/>
          <p:nvPr/>
        </p:nvSpPr>
        <p:spPr>
          <a:xfrm>
            <a:off x="13716000" y="3685031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3770864" y="370331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14400" y="400507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69264" y="402335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Les attestations d’assurance automobile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48640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54126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25" name="Rectangle 224"/>
          <p:cNvSpPr/>
          <p:nvPr/>
        </p:nvSpPr>
        <p:spPr>
          <a:xfrm>
            <a:off x="630936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36422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27" name="Rectangle 226"/>
          <p:cNvSpPr/>
          <p:nvPr/>
        </p:nvSpPr>
        <p:spPr>
          <a:xfrm>
            <a:off x="713232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18718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29" name="Rectangle 228"/>
          <p:cNvSpPr/>
          <p:nvPr/>
        </p:nvSpPr>
        <p:spPr>
          <a:xfrm>
            <a:off x="795528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01014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1" name="Rectangle 230"/>
          <p:cNvSpPr/>
          <p:nvPr/>
        </p:nvSpPr>
        <p:spPr>
          <a:xfrm>
            <a:off x="877824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83310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960120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965606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5" name="Rectangle 234"/>
          <p:cNvSpPr/>
          <p:nvPr/>
        </p:nvSpPr>
        <p:spPr>
          <a:xfrm>
            <a:off x="1042416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47902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7" name="Rectangle 236"/>
          <p:cNvSpPr/>
          <p:nvPr/>
        </p:nvSpPr>
        <p:spPr>
          <a:xfrm>
            <a:off x="1124712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130198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9" name="Rectangle 238"/>
          <p:cNvSpPr/>
          <p:nvPr/>
        </p:nvSpPr>
        <p:spPr>
          <a:xfrm>
            <a:off x="1207008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212494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41" name="Rectangle 240"/>
          <p:cNvSpPr/>
          <p:nvPr/>
        </p:nvSpPr>
        <p:spPr>
          <a:xfrm>
            <a:off x="1289304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294790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43" name="Rectangle 242"/>
          <p:cNvSpPr/>
          <p:nvPr/>
        </p:nvSpPr>
        <p:spPr>
          <a:xfrm>
            <a:off x="13716000" y="400507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3770864" y="402335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14400" y="432511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69264" y="434340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Ordinateur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48640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554126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49" name="Rectangle 248"/>
          <p:cNvSpPr/>
          <p:nvPr/>
        </p:nvSpPr>
        <p:spPr>
          <a:xfrm>
            <a:off x="630936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6422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51" name="Rectangle 250"/>
          <p:cNvSpPr/>
          <p:nvPr/>
        </p:nvSpPr>
        <p:spPr>
          <a:xfrm>
            <a:off x="713232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718718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53" name="Rectangle 252"/>
          <p:cNvSpPr/>
          <p:nvPr/>
        </p:nvSpPr>
        <p:spPr>
          <a:xfrm>
            <a:off x="795528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01014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77824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83310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960120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65606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042416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047902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124712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130198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207008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212494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65" name="Rectangle 264"/>
          <p:cNvSpPr/>
          <p:nvPr/>
        </p:nvSpPr>
        <p:spPr>
          <a:xfrm>
            <a:off x="12893040" y="43251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2947904" y="43434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67" name="Rectangle 266"/>
          <p:cNvSpPr/>
          <p:nvPr/>
        </p:nvSpPr>
        <p:spPr>
          <a:xfrm>
            <a:off x="13716000" y="432511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3770864" y="43434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10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914400" y="464515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969264" y="46634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Ordinateur Portable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48640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554126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3" name="Rectangle 272"/>
          <p:cNvSpPr/>
          <p:nvPr/>
        </p:nvSpPr>
        <p:spPr>
          <a:xfrm>
            <a:off x="630936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36422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5" name="Rectangle 274"/>
          <p:cNvSpPr/>
          <p:nvPr/>
        </p:nvSpPr>
        <p:spPr>
          <a:xfrm>
            <a:off x="713232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718718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77" name="Rectangle 276"/>
          <p:cNvSpPr/>
          <p:nvPr/>
        </p:nvSpPr>
        <p:spPr>
          <a:xfrm>
            <a:off x="795528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801014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877824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883310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81" name="Rectangle 280"/>
          <p:cNvSpPr/>
          <p:nvPr/>
        </p:nvSpPr>
        <p:spPr>
          <a:xfrm>
            <a:off x="960120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965606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83" name="Rectangle 282"/>
          <p:cNvSpPr/>
          <p:nvPr/>
        </p:nvSpPr>
        <p:spPr>
          <a:xfrm>
            <a:off x="1042416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047902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1124712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130198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207008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212494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89" name="Rectangle 288"/>
          <p:cNvSpPr/>
          <p:nvPr/>
        </p:nvSpPr>
        <p:spPr>
          <a:xfrm>
            <a:off x="12893040" y="46451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2947904" y="46634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91" name="Rectangle 290"/>
          <p:cNvSpPr/>
          <p:nvPr/>
        </p:nvSpPr>
        <p:spPr>
          <a:xfrm>
            <a:off x="13716000" y="464515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3770864" y="46634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914400" y="496519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969264" y="498347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Ordinateurs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548640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554126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97" name="Rectangle 296"/>
          <p:cNvSpPr/>
          <p:nvPr/>
        </p:nvSpPr>
        <p:spPr>
          <a:xfrm>
            <a:off x="630936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636422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99" name="Rectangle 298"/>
          <p:cNvSpPr/>
          <p:nvPr/>
        </p:nvSpPr>
        <p:spPr>
          <a:xfrm>
            <a:off x="713232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718718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01" name="Rectangle 300"/>
          <p:cNvSpPr/>
          <p:nvPr/>
        </p:nvSpPr>
        <p:spPr>
          <a:xfrm>
            <a:off x="795528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801014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877824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883310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05" name="Rectangle 304"/>
          <p:cNvSpPr/>
          <p:nvPr/>
        </p:nvSpPr>
        <p:spPr>
          <a:xfrm>
            <a:off x="960120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965606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07" name="Rectangle 306"/>
          <p:cNvSpPr/>
          <p:nvPr/>
        </p:nvSpPr>
        <p:spPr>
          <a:xfrm>
            <a:off x="1042416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047902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1124712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130198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11" name="Rectangle 310"/>
          <p:cNvSpPr/>
          <p:nvPr/>
        </p:nvSpPr>
        <p:spPr>
          <a:xfrm>
            <a:off x="1207008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212494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13" name="Rectangle 312"/>
          <p:cNvSpPr/>
          <p:nvPr/>
        </p:nvSpPr>
        <p:spPr>
          <a:xfrm>
            <a:off x="12893040" y="49651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2947904" y="49834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13716000" y="496519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3770864" y="498347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14400" y="5285231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969264" y="530351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Ordinateurs Portables*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48640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554126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21" name="Rectangle 320"/>
          <p:cNvSpPr/>
          <p:nvPr/>
        </p:nvSpPr>
        <p:spPr>
          <a:xfrm>
            <a:off x="630936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636422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23" name="Rectangle 322"/>
          <p:cNvSpPr/>
          <p:nvPr/>
        </p:nvSpPr>
        <p:spPr>
          <a:xfrm>
            <a:off x="713232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718718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25" name="Rectangle 324"/>
          <p:cNvSpPr/>
          <p:nvPr/>
        </p:nvSpPr>
        <p:spPr>
          <a:xfrm>
            <a:off x="795528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801014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877824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883310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29" name="Rectangle 328"/>
          <p:cNvSpPr/>
          <p:nvPr/>
        </p:nvSpPr>
        <p:spPr>
          <a:xfrm>
            <a:off x="960120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65606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1" name="Rectangle 330"/>
          <p:cNvSpPr/>
          <p:nvPr/>
        </p:nvSpPr>
        <p:spPr>
          <a:xfrm>
            <a:off x="1042416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047902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3" name="Rectangle 332"/>
          <p:cNvSpPr/>
          <p:nvPr/>
        </p:nvSpPr>
        <p:spPr>
          <a:xfrm>
            <a:off x="1124712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130198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207008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1212494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2893040" y="528523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12947904" y="53035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9" name="Rectangle 338"/>
          <p:cNvSpPr/>
          <p:nvPr/>
        </p:nvSpPr>
        <p:spPr>
          <a:xfrm>
            <a:off x="13716000" y="5285231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13770864" y="530351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914400" y="560527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969264" y="562355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Ordinateurs portables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548640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554126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45" name="Rectangle 344"/>
          <p:cNvSpPr/>
          <p:nvPr/>
        </p:nvSpPr>
        <p:spPr>
          <a:xfrm>
            <a:off x="630936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36422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47" name="Rectangle 346"/>
          <p:cNvSpPr/>
          <p:nvPr/>
        </p:nvSpPr>
        <p:spPr>
          <a:xfrm>
            <a:off x="713232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718718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49" name="Rectangle 348"/>
          <p:cNvSpPr/>
          <p:nvPr/>
        </p:nvSpPr>
        <p:spPr>
          <a:xfrm>
            <a:off x="795528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801014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77824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83310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960120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965606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55" name="Rectangle 354"/>
          <p:cNvSpPr/>
          <p:nvPr/>
        </p:nvSpPr>
        <p:spPr>
          <a:xfrm>
            <a:off x="1042416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047902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5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1124712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1130198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6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1207008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1212494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61" name="Rectangle 360"/>
          <p:cNvSpPr/>
          <p:nvPr/>
        </p:nvSpPr>
        <p:spPr>
          <a:xfrm>
            <a:off x="12893040" y="56052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12947904" y="56235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63" name="Rectangle 362"/>
          <p:cNvSpPr/>
          <p:nvPr/>
        </p:nvSpPr>
        <p:spPr>
          <a:xfrm>
            <a:off x="13716000" y="56052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13770864" y="562355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16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914400" y="592531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969264" y="594359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Papier en tête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548640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554126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69" name="Rectangle 368"/>
          <p:cNvSpPr/>
          <p:nvPr/>
        </p:nvSpPr>
        <p:spPr>
          <a:xfrm>
            <a:off x="630936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636422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1" name="Rectangle 370"/>
          <p:cNvSpPr/>
          <p:nvPr/>
        </p:nvSpPr>
        <p:spPr>
          <a:xfrm>
            <a:off x="713232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718718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3" name="Rectangle 372"/>
          <p:cNvSpPr/>
          <p:nvPr/>
        </p:nvSpPr>
        <p:spPr>
          <a:xfrm>
            <a:off x="795528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801014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877824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883310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960120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965606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9" name="Rectangle 378"/>
          <p:cNvSpPr/>
          <p:nvPr/>
        </p:nvSpPr>
        <p:spPr>
          <a:xfrm>
            <a:off x="1042416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1047902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81" name="Rectangle 380"/>
          <p:cNvSpPr/>
          <p:nvPr/>
        </p:nvSpPr>
        <p:spPr>
          <a:xfrm>
            <a:off x="1124712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1130198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83" name="Rectangle 382"/>
          <p:cNvSpPr/>
          <p:nvPr/>
        </p:nvSpPr>
        <p:spPr>
          <a:xfrm>
            <a:off x="1207008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1212494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85" name="Rectangle 384"/>
          <p:cNvSpPr/>
          <p:nvPr/>
        </p:nvSpPr>
        <p:spPr>
          <a:xfrm>
            <a:off x="12893040" y="59253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2947904" y="594359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87" name="Rectangle 386"/>
          <p:cNvSpPr/>
          <p:nvPr/>
        </p:nvSpPr>
        <p:spPr>
          <a:xfrm>
            <a:off x="13716000" y="59253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13770864" y="594359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914400" y="624535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969264" y="62636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Papier en-tête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548640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554126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93" name="Rectangle 392"/>
          <p:cNvSpPr/>
          <p:nvPr/>
        </p:nvSpPr>
        <p:spPr>
          <a:xfrm>
            <a:off x="630936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636422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95" name="Rectangle 394"/>
          <p:cNvSpPr/>
          <p:nvPr/>
        </p:nvSpPr>
        <p:spPr>
          <a:xfrm>
            <a:off x="713232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718718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97" name="Rectangle 396"/>
          <p:cNvSpPr/>
          <p:nvPr/>
        </p:nvSpPr>
        <p:spPr>
          <a:xfrm>
            <a:off x="795528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801014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877824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883310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01" name="Rectangle 400"/>
          <p:cNvSpPr/>
          <p:nvPr/>
        </p:nvSpPr>
        <p:spPr>
          <a:xfrm>
            <a:off x="960120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965606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03" name="Rectangle 402"/>
          <p:cNvSpPr/>
          <p:nvPr/>
        </p:nvSpPr>
        <p:spPr>
          <a:xfrm>
            <a:off x="1042416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1047902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05" name="Rectangle 404"/>
          <p:cNvSpPr/>
          <p:nvPr/>
        </p:nvSpPr>
        <p:spPr>
          <a:xfrm>
            <a:off x="1124712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1130198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07" name="Rectangle 406"/>
          <p:cNvSpPr/>
          <p:nvPr/>
        </p:nvSpPr>
        <p:spPr>
          <a:xfrm>
            <a:off x="1207008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1212494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09" name="Rectangle 408"/>
          <p:cNvSpPr/>
          <p:nvPr/>
        </p:nvSpPr>
        <p:spPr>
          <a:xfrm>
            <a:off x="12893040" y="62453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12947904" y="62636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11" name="Rectangle 410"/>
          <p:cNvSpPr/>
          <p:nvPr/>
        </p:nvSpPr>
        <p:spPr>
          <a:xfrm>
            <a:off x="13716000" y="62453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13770864" y="62636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914400" y="656539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969264" y="658367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Papier entête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548640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554126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17" name="Rectangle 416"/>
          <p:cNvSpPr/>
          <p:nvPr/>
        </p:nvSpPr>
        <p:spPr>
          <a:xfrm>
            <a:off x="630936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636422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19" name="Rectangle 418"/>
          <p:cNvSpPr/>
          <p:nvPr/>
        </p:nvSpPr>
        <p:spPr>
          <a:xfrm>
            <a:off x="713232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718718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21" name="Rectangle 420"/>
          <p:cNvSpPr/>
          <p:nvPr/>
        </p:nvSpPr>
        <p:spPr>
          <a:xfrm>
            <a:off x="795528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801014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23" name="Rectangle 422"/>
          <p:cNvSpPr/>
          <p:nvPr/>
        </p:nvSpPr>
        <p:spPr>
          <a:xfrm>
            <a:off x="877824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883310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40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960120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965606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27" name="Rectangle 426"/>
          <p:cNvSpPr/>
          <p:nvPr/>
        </p:nvSpPr>
        <p:spPr>
          <a:xfrm>
            <a:off x="1042416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1047902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1124712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1130198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31" name="Rectangle 430"/>
          <p:cNvSpPr/>
          <p:nvPr/>
        </p:nvSpPr>
        <p:spPr>
          <a:xfrm>
            <a:off x="1207008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1212494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33" name="Rectangle 432"/>
          <p:cNvSpPr/>
          <p:nvPr/>
        </p:nvSpPr>
        <p:spPr>
          <a:xfrm>
            <a:off x="12893040" y="656539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12947904" y="65836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35" name="Rectangle 434"/>
          <p:cNvSpPr/>
          <p:nvPr/>
        </p:nvSpPr>
        <p:spPr>
          <a:xfrm>
            <a:off x="13716000" y="656539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13770864" y="658367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41</a:t>
            </a:r>
          </a:p>
        </p:txBody>
      </p:sp>
      <p:sp>
        <p:nvSpPr>
          <p:cNvPr id="437" name="Rectangle 436"/>
          <p:cNvSpPr/>
          <p:nvPr/>
        </p:nvSpPr>
        <p:spPr>
          <a:xfrm>
            <a:off x="914400" y="6885431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969264" y="690371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Papier entête + papier avec sigle + CG (divers types)</a:t>
            </a:r>
          </a:p>
        </p:txBody>
      </p:sp>
      <p:sp>
        <p:nvSpPr>
          <p:cNvPr id="439" name="Rectangle 438"/>
          <p:cNvSpPr/>
          <p:nvPr/>
        </p:nvSpPr>
        <p:spPr>
          <a:xfrm>
            <a:off x="548640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554126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41" name="Rectangle 440"/>
          <p:cNvSpPr/>
          <p:nvPr/>
        </p:nvSpPr>
        <p:spPr>
          <a:xfrm>
            <a:off x="630936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636422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43" name="Rectangle 442"/>
          <p:cNvSpPr/>
          <p:nvPr/>
        </p:nvSpPr>
        <p:spPr>
          <a:xfrm>
            <a:off x="713232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718718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45" name="Rectangle 444"/>
          <p:cNvSpPr/>
          <p:nvPr/>
        </p:nvSpPr>
        <p:spPr>
          <a:xfrm>
            <a:off x="795528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801014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877824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883310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49" name="Rectangle 448"/>
          <p:cNvSpPr/>
          <p:nvPr/>
        </p:nvSpPr>
        <p:spPr>
          <a:xfrm>
            <a:off x="960120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965606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1" name="Rectangle 450"/>
          <p:cNvSpPr/>
          <p:nvPr/>
        </p:nvSpPr>
        <p:spPr>
          <a:xfrm>
            <a:off x="1042416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1047902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3" name="Rectangle 452"/>
          <p:cNvSpPr/>
          <p:nvPr/>
        </p:nvSpPr>
        <p:spPr>
          <a:xfrm>
            <a:off x="1124712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1130198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5" name="Rectangle 454"/>
          <p:cNvSpPr/>
          <p:nvPr/>
        </p:nvSpPr>
        <p:spPr>
          <a:xfrm>
            <a:off x="1207008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212494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7" name="Rectangle 456"/>
          <p:cNvSpPr/>
          <p:nvPr/>
        </p:nvSpPr>
        <p:spPr>
          <a:xfrm>
            <a:off x="12893040" y="68854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12947904" y="69037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9" name="Rectangle 458"/>
          <p:cNvSpPr/>
          <p:nvPr/>
        </p:nvSpPr>
        <p:spPr>
          <a:xfrm>
            <a:off x="13716000" y="6885431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13770864" y="690371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461" name="Rectangle 460"/>
          <p:cNvSpPr/>
          <p:nvPr/>
        </p:nvSpPr>
        <p:spPr>
          <a:xfrm>
            <a:off x="914400" y="720547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969264" y="722375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Papiers entête GAT ASSURANCES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548640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554126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65" name="Rectangle 464"/>
          <p:cNvSpPr/>
          <p:nvPr/>
        </p:nvSpPr>
        <p:spPr>
          <a:xfrm>
            <a:off x="630936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636422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67" name="Rectangle 466"/>
          <p:cNvSpPr/>
          <p:nvPr/>
        </p:nvSpPr>
        <p:spPr>
          <a:xfrm>
            <a:off x="713232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718718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69" name="Rectangle 468"/>
          <p:cNvSpPr/>
          <p:nvPr/>
        </p:nvSpPr>
        <p:spPr>
          <a:xfrm>
            <a:off x="795528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801014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71" name="Rectangle 470"/>
          <p:cNvSpPr/>
          <p:nvPr/>
        </p:nvSpPr>
        <p:spPr>
          <a:xfrm>
            <a:off x="877824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883310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3" name="Rectangle 472"/>
          <p:cNvSpPr/>
          <p:nvPr/>
        </p:nvSpPr>
        <p:spPr>
          <a:xfrm>
            <a:off x="960120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965606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5" name="Rectangle 474"/>
          <p:cNvSpPr/>
          <p:nvPr/>
        </p:nvSpPr>
        <p:spPr>
          <a:xfrm>
            <a:off x="1042416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1047902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7" name="Rectangle 476"/>
          <p:cNvSpPr/>
          <p:nvPr/>
        </p:nvSpPr>
        <p:spPr>
          <a:xfrm>
            <a:off x="1124712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1130198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9" name="Rectangle 478"/>
          <p:cNvSpPr/>
          <p:nvPr/>
        </p:nvSpPr>
        <p:spPr>
          <a:xfrm>
            <a:off x="1207008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1212494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81" name="Rectangle 480"/>
          <p:cNvSpPr/>
          <p:nvPr/>
        </p:nvSpPr>
        <p:spPr>
          <a:xfrm>
            <a:off x="12893040" y="72054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12947904" y="72237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83" name="Rectangle 482"/>
          <p:cNvSpPr/>
          <p:nvPr/>
        </p:nvSpPr>
        <p:spPr>
          <a:xfrm>
            <a:off x="13716000" y="720547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13770864" y="722375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85" name="Rectangle 484"/>
          <p:cNvSpPr/>
          <p:nvPr/>
        </p:nvSpPr>
        <p:spPr>
          <a:xfrm>
            <a:off x="914400" y="752551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969264" y="754380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Pré-imprimé des agences</a:t>
            </a:r>
          </a:p>
        </p:txBody>
      </p:sp>
      <p:sp>
        <p:nvSpPr>
          <p:cNvPr id="487" name="Rectangle 486"/>
          <p:cNvSpPr/>
          <p:nvPr/>
        </p:nvSpPr>
        <p:spPr>
          <a:xfrm>
            <a:off x="548640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554126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89" name="Rectangle 488"/>
          <p:cNvSpPr/>
          <p:nvPr/>
        </p:nvSpPr>
        <p:spPr>
          <a:xfrm>
            <a:off x="630936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636422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1" name="Rectangle 490"/>
          <p:cNvSpPr/>
          <p:nvPr/>
        </p:nvSpPr>
        <p:spPr>
          <a:xfrm>
            <a:off x="713232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718718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3" name="Rectangle 492"/>
          <p:cNvSpPr/>
          <p:nvPr/>
        </p:nvSpPr>
        <p:spPr>
          <a:xfrm>
            <a:off x="795528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801014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95" name="Rectangle 494"/>
          <p:cNvSpPr/>
          <p:nvPr/>
        </p:nvSpPr>
        <p:spPr>
          <a:xfrm>
            <a:off x="877824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883310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7" name="Rectangle 496"/>
          <p:cNvSpPr/>
          <p:nvPr/>
        </p:nvSpPr>
        <p:spPr>
          <a:xfrm>
            <a:off x="960120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965606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9" name="Rectangle 498"/>
          <p:cNvSpPr/>
          <p:nvPr/>
        </p:nvSpPr>
        <p:spPr>
          <a:xfrm>
            <a:off x="1042416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1047902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01" name="Rectangle 500"/>
          <p:cNvSpPr/>
          <p:nvPr/>
        </p:nvSpPr>
        <p:spPr>
          <a:xfrm>
            <a:off x="1124712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1130198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03" name="Rectangle 502"/>
          <p:cNvSpPr/>
          <p:nvPr/>
        </p:nvSpPr>
        <p:spPr>
          <a:xfrm>
            <a:off x="1207008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1212494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05" name="Rectangle 504"/>
          <p:cNvSpPr/>
          <p:nvPr/>
        </p:nvSpPr>
        <p:spPr>
          <a:xfrm>
            <a:off x="12893040" y="752551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12947904" y="75438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07" name="Rectangle 506"/>
          <p:cNvSpPr/>
          <p:nvPr/>
        </p:nvSpPr>
        <p:spPr>
          <a:xfrm>
            <a:off x="13716000" y="752551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13770864" y="75438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814"/>
                </a:solidFill>
                <a:latin typeface="Calibri"/>
              </a:rPr>
              <a:t>Équipements nécessaires à la reprise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455371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4462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Désignation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H+2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H+4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988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4712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7008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1580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93040" y="1097280"/>
            <a:ext cx="80467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38760" y="11155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J+15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0" y="1097280"/>
            <a:ext cx="1078992" cy="347472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61720" y="111556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144475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14630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Rame A4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126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718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014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3310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606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7902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0198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1207008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12494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12893040" y="144475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947904" y="14630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0" y="144475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70864" y="14630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176479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" y="178308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Rame lettre chèque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4126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422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8718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795528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1014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877824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3310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5606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1042416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7902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124712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0198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1207008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12494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12893040" y="176479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947904" y="178308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00" y="176479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770864" y="178308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208483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" y="210312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Scanner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4126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6422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713232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8718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795528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1014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7824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3310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960120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5606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1042416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7902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124712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30198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1207008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12494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2893040" y="208483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947904" y="210312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00" y="208483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770864" y="210312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" y="240487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9264" y="242316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Scanner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54126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630936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6422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7" name="Rectangle 106"/>
          <p:cNvSpPr/>
          <p:nvPr/>
        </p:nvSpPr>
        <p:spPr>
          <a:xfrm>
            <a:off x="713232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8718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8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1014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77824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3310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960120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5606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1042416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47902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1124712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30198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1207008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12494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12893040" y="240487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947904" y="242316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00" y="240487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770864" y="242316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4400" y="272491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9264" y="274320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Scanner à plat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54126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630936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36422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713232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18718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795528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01014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83310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0120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5606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1042416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47902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1" name="Rectangle 140"/>
          <p:cNvSpPr/>
          <p:nvPr/>
        </p:nvSpPr>
        <p:spPr>
          <a:xfrm>
            <a:off x="1124712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30198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1207008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212494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12893040" y="272491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947904" y="274320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13716000" y="272491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3770864" y="274320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14400" y="3044952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69264" y="306324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Smartphone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8640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54126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630936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6422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713232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18718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795528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1014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77824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83310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0120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5606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42416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47902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124712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30198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07008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12494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12893040" y="3044952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2947904" y="3063240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1" name="Rectangle 170"/>
          <p:cNvSpPr/>
          <p:nvPr/>
        </p:nvSpPr>
        <p:spPr>
          <a:xfrm>
            <a:off x="13716000" y="3044952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3770864" y="3063240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9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4400" y="3364991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264" y="338327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Tous les types de cachets dont dispose une agence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48640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54126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630936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36422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713232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8718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795528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01014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77824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83310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960120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65606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1042416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47902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1124712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30198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1" name="Rectangle 190"/>
          <p:cNvSpPr/>
          <p:nvPr/>
        </p:nvSpPr>
        <p:spPr>
          <a:xfrm>
            <a:off x="1207008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212494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2893040" y="3364991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2947904" y="338327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13716000" y="3364991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3770864" y="338327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14400" y="3685031"/>
            <a:ext cx="455371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69264" y="370331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Téléphone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48640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54126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1" name="Rectangle 200"/>
          <p:cNvSpPr/>
          <p:nvPr/>
        </p:nvSpPr>
        <p:spPr>
          <a:xfrm>
            <a:off x="630936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36422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3" name="Rectangle 202"/>
          <p:cNvSpPr/>
          <p:nvPr/>
        </p:nvSpPr>
        <p:spPr>
          <a:xfrm>
            <a:off x="713232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18718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5" name="Rectangle 204"/>
          <p:cNvSpPr/>
          <p:nvPr/>
        </p:nvSpPr>
        <p:spPr>
          <a:xfrm>
            <a:off x="795528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01014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77824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83310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09" name="Rectangle 208"/>
          <p:cNvSpPr/>
          <p:nvPr/>
        </p:nvSpPr>
        <p:spPr>
          <a:xfrm>
            <a:off x="960120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65606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1" name="Rectangle 210"/>
          <p:cNvSpPr/>
          <p:nvPr/>
        </p:nvSpPr>
        <p:spPr>
          <a:xfrm>
            <a:off x="1042416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47902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3" name="Rectangle 212"/>
          <p:cNvSpPr/>
          <p:nvPr/>
        </p:nvSpPr>
        <p:spPr>
          <a:xfrm>
            <a:off x="1124712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130198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1207008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212494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7" name="Rectangle 216"/>
          <p:cNvSpPr/>
          <p:nvPr/>
        </p:nvSpPr>
        <p:spPr>
          <a:xfrm>
            <a:off x="12893040" y="3685031"/>
            <a:ext cx="80467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2947904" y="370331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19" name="Rectangle 218"/>
          <p:cNvSpPr/>
          <p:nvPr/>
        </p:nvSpPr>
        <p:spPr>
          <a:xfrm>
            <a:off x="13716000" y="3685031"/>
            <a:ext cx="1078992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3770864" y="370331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14400" y="4005072"/>
            <a:ext cx="455371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69264" y="4023359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VPN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48640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54126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25" name="Rectangle 224"/>
          <p:cNvSpPr/>
          <p:nvPr/>
        </p:nvSpPr>
        <p:spPr>
          <a:xfrm>
            <a:off x="630936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36422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27" name="Rectangle 226"/>
          <p:cNvSpPr/>
          <p:nvPr/>
        </p:nvSpPr>
        <p:spPr>
          <a:xfrm>
            <a:off x="713232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18718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29" name="Rectangle 228"/>
          <p:cNvSpPr/>
          <p:nvPr/>
        </p:nvSpPr>
        <p:spPr>
          <a:xfrm>
            <a:off x="795528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01014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1" name="Rectangle 230"/>
          <p:cNvSpPr/>
          <p:nvPr/>
        </p:nvSpPr>
        <p:spPr>
          <a:xfrm>
            <a:off x="877824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83310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960120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965606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42416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47902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124712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130198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39" name="Rectangle 238"/>
          <p:cNvSpPr/>
          <p:nvPr/>
        </p:nvSpPr>
        <p:spPr>
          <a:xfrm>
            <a:off x="1207008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212494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41" name="Rectangle 240"/>
          <p:cNvSpPr/>
          <p:nvPr/>
        </p:nvSpPr>
        <p:spPr>
          <a:xfrm>
            <a:off x="12893040" y="4005072"/>
            <a:ext cx="80467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2947904" y="4023359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/>
            </a:r>
          </a:p>
        </p:txBody>
      </p:sp>
      <p:sp>
        <p:nvSpPr>
          <p:cNvPr id="243" name="Rectangle 242"/>
          <p:cNvSpPr/>
          <p:nvPr/>
        </p:nvSpPr>
        <p:spPr>
          <a:xfrm>
            <a:off x="13716000" y="4005072"/>
            <a:ext cx="1078992" cy="329184"/>
          </a:xfrm>
          <a:prstGeom prst="rect">
            <a:avLst/>
          </a:prstGeom>
          <a:solidFill>
            <a:srgbClr val="F4F3F0"/>
          </a:solidFill>
          <a:ln>
            <a:solidFill>
              <a:srgbClr val="D0C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3770864" y="4023359"/>
            <a:ext cx="969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81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E8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645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AEA8"/>
                </a:solidFill>
                <a:latin typeface="Calibri"/>
              </a:rPr>
              <a:t>AI-driven tech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680"/>
                </a:solidFill>
                <a:latin typeface="Calibri"/>
              </a:rPr>
              <a:t>devoteam.com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