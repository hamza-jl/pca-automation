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33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200400"/>
            <a:ext cx="914400" cy="19431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029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2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Devoteam IA Lab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Automatisation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du Projet PCA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</a:rPr>
              <a:t>Phase 1 — Cadrage BIA &amp; Analyse des Risques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77724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Qu'est-ce que le PCA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39903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42646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2A4A"/>
                </a:solidFill>
              </a:rPr>
              <a:t>Le Plan de Continuité d'Activité (PCA)</a:t>
            </a:r>
            <a:r>
              <a:rPr lang="en-US" sz="1300" dirty="0">
                <a:solidFill>
                  <a:srgbClr val="1E293B"/>
                </a:solidFill>
              </a:rPr>
              <a:t> est un dispositif stratégique qui permet à une organisation de maintenir ses activités critiques face à tout incident majeur — </a:t>
            </a:r>
            <a:r>
              <a:rPr lang="fr-FR" sz="1400" dirty="0"/>
              <a:t>Cyberattaque ; IT : Indisponibilité d'une application vitale ; Indisponibilité des RH : Pandémie, etc., Indisponibilité d'un bâtiment critique : Incendie ,……etc.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Votre challenge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25896" y="2057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Valeur ajoutée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Méthodologie PCA — Trajectoire en 5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1600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325880"/>
            <a:ext cx="16002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</a:rPr>
              <a:t>Lancement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Kick-off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Gouvernance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Validation méthode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" y="3703320"/>
            <a:ext cx="150876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 Kick-off initié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01368" y="260604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9384" y="24963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1325880"/>
            <a:ext cx="1600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1325880"/>
            <a:ext cx="16002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39112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</a:rPr>
              <a:t>Cadrage PCA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39112" y="25786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BIA : RTO/RPO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Analyse des risques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3703320"/>
            <a:ext cx="15087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Fiche BIA</a:t>
            </a:r>
          </a:p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Synthèse</a:t>
            </a:r>
            <a:r>
              <a:rPr lang="en-US" sz="850" b="1" dirty="0">
                <a:solidFill>
                  <a:srgbClr val="FFFFFF"/>
                </a:solidFill>
              </a:rPr>
              <a:t> BIA  </a:t>
            </a:r>
            <a:br>
              <a:rPr lang="en-US" sz="850" b="1" dirty="0">
                <a:solidFill>
                  <a:srgbClr val="FFFFFF"/>
                </a:solidFill>
              </a:rPr>
            </a:br>
            <a:r>
              <a:rPr lang="en-US" sz="850" b="1" dirty="0">
                <a:solidFill>
                  <a:srgbClr val="FFFFFF"/>
                </a:solidFill>
              </a:rPr>
              <a:t>Rapport BIA </a:t>
            </a:r>
            <a:r>
              <a:rPr lang="en-US" sz="850" b="1" dirty="0" err="1">
                <a:solidFill>
                  <a:srgbClr val="FFFFFF"/>
                </a:solidFill>
              </a:rPr>
              <a:t>validé</a:t>
            </a:r>
            <a:endParaRPr lang="en-US" sz="85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Cartographie</a:t>
            </a:r>
            <a:r>
              <a:rPr lang="en-US" sz="850" b="1" dirty="0">
                <a:solidFill>
                  <a:srgbClr val="FFFFFF"/>
                </a:solidFill>
              </a:rPr>
              <a:t> des </a:t>
            </a:r>
            <a:r>
              <a:rPr lang="en-US" sz="850" b="1" dirty="0" err="1">
                <a:solidFill>
                  <a:srgbClr val="FFFFFF"/>
                </a:solidFill>
              </a:rPr>
              <a:t>risques</a:t>
            </a:r>
            <a:r>
              <a:rPr lang="en-US" sz="850" b="1" dirty="0">
                <a:solidFill>
                  <a:srgbClr val="FFFFFF"/>
                </a:solidFill>
              </a:rPr>
              <a:t> PCA 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260604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24963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30752" y="1325880"/>
            <a:ext cx="1600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1325880"/>
            <a:ext cx="16002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03904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Stratégie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03904" y="25786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fr-FR" sz="1000" dirty="0"/>
              <a:t>Solutions de contournement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76472" y="3703320"/>
            <a:ext cx="1508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 Stratégie validée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30952" y="260604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24963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95544" y="1325880"/>
            <a:ext cx="1600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95544" y="1325880"/>
            <a:ext cx="160020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68696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</a:rPr>
              <a:t>Mise en place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68696" y="25786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fr-FR" sz="1000" dirty="0"/>
          </a:p>
          <a:p>
            <a:pPr algn="ctr"/>
            <a:r>
              <a:rPr lang="fr-FR" sz="1000" dirty="0"/>
              <a:t>Corpus PCA livré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41264" y="3703320"/>
            <a:ext cx="15087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41264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 Corpus SMCA livré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95744" y="260604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24963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0336" y="1325880"/>
            <a:ext cx="1600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0336" y="1325880"/>
            <a:ext cx="16002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0336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33488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200" dirty="0"/>
              <a:t>Acculturation, Tests &amp; MCO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33488" y="25786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000" dirty="0">
                <a:solidFill>
                  <a:srgbClr val="1E293B"/>
                </a:solidFill>
              </a:rPr>
              <a:t>Sessions de sensibilisation ; Tests ; MCO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06056" y="3703320"/>
            <a:ext cx="15087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06056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PCA </a:t>
            </a:r>
            <a:r>
              <a:rPr lang="en-US" sz="850" b="1" dirty="0" err="1">
                <a:solidFill>
                  <a:srgbClr val="FFFFFF"/>
                </a:solidFill>
              </a:rPr>
              <a:t>opérationnel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965960" y="1225296"/>
            <a:ext cx="1600200" cy="3401568"/>
          </a:xfrm>
          <a:prstGeom prst="rect">
            <a:avLst/>
          </a:prstGeom>
          <a:solidFill>
            <a:srgbClr val="D6EAF8">
              <a:alpha val="60000"/>
            </a:srgbClr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65960" y="9875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</a:rPr>
              <a:t>FOCUS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1 — Cadrage du PCA : Détail des Activités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BIA — </a:t>
            </a:r>
            <a:r>
              <a:rPr lang="en-US" sz="1300" b="1" dirty="0" err="1">
                <a:solidFill>
                  <a:srgbClr val="FFFFFF"/>
                </a:solidFill>
              </a:rPr>
              <a:t>Businees</a:t>
            </a:r>
            <a:r>
              <a:rPr lang="en-US" sz="1300" b="1" dirty="0">
                <a:solidFill>
                  <a:srgbClr val="FFFFFF"/>
                </a:solidFill>
              </a:rPr>
              <a:t> Impact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02920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453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Recensement des structures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Identification de l'ensemble des structures métier et de leur subdivision organisationnelle.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502920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86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322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Fiche BIA par structure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Collecte des données d'impact : RTO, RPO, ressources critiques, dépendances applicatives.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502920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1912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Synthèse BIA (couche persistance)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Consolidation des fiches dans </a:t>
            </a:r>
            <a:r>
              <a:rPr lang="en-US" sz="950" dirty="0" err="1">
                <a:solidFill>
                  <a:srgbClr val="1E293B"/>
                </a:solidFill>
              </a:rPr>
              <a:t>une</a:t>
            </a:r>
            <a:r>
              <a:rPr lang="en-US" sz="950" dirty="0">
                <a:solidFill>
                  <a:srgbClr val="1E293B"/>
                </a:solidFill>
              </a:rPr>
              <a:t> fiche </a:t>
            </a:r>
            <a:r>
              <a:rPr lang="en-US" sz="950" dirty="0" err="1">
                <a:solidFill>
                  <a:srgbClr val="1E293B"/>
                </a:solidFill>
              </a:rPr>
              <a:t>synthèse</a:t>
            </a:r>
            <a:r>
              <a:rPr lang="en-US" sz="950" dirty="0">
                <a:solidFill>
                  <a:srgbClr val="1E293B"/>
                </a:solidFill>
              </a:rPr>
              <a:t> (</a:t>
            </a:r>
            <a:r>
              <a:rPr lang="en-US" sz="950" dirty="0" err="1">
                <a:solidFill>
                  <a:srgbClr val="1E293B"/>
                </a:solidFill>
              </a:rPr>
              <a:t>Synthèse</a:t>
            </a:r>
            <a:r>
              <a:rPr lang="en-US" sz="950" dirty="0">
                <a:solidFill>
                  <a:srgbClr val="1E293B"/>
                </a:solidFill>
              </a:rPr>
              <a:t> BIA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2336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23360"/>
            <a:ext cx="502920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23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0599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Rapport BIA (v1 → Vf)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432511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Production automatisée du rapport formel avec priorisation des activités et validation réglementaire.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822960"/>
            <a:ext cx="393192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Analyse des Risques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41732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417320"/>
            <a:ext cx="5029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4173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0" y="1453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A825"/>
                </a:solidFill>
              </a:rPr>
              <a:t>Identification des risques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0" y="171907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Cartographie des menaces potentielles : IT, RH, locaux, fournisseurs, cyber, catastrophes.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28600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286000"/>
            <a:ext cx="5029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286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0" y="2322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A825"/>
                </a:solidFill>
              </a:rPr>
              <a:t>Évaluation des risques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0" y="25877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Cotation probabilité × impact, matrice de criticité, définition des seuils d'acceptabilité.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92040" y="315468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92040" y="3154680"/>
            <a:ext cx="5029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0" y="31912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A825"/>
                </a:solidFill>
              </a:rPr>
              <a:t>Plan de traitement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0" y="345643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Définition des mesures correctives et préventives par scénario prioritaire identifié.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402336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92040" y="4023360"/>
            <a:ext cx="5029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023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486400" y="40599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A825"/>
                </a:solidFill>
              </a:rPr>
              <a:t>Rapport Analyse des Risques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0" y="432511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Livrable formel remis à la direction et au régulateur avec statut et plan d'action associé.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0" y="4727448"/>
            <a:ext cx="3657600" cy="2834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74320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Livrable : Rapport BIA validé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Automatisation IA — Phase 1 : Ce que nous avons construit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Deux modules IA complémentaires couvrent l'intégralité du cycle BIA, de la génération des fiches jusqu'à la consolidation dans la Synthèse.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23842" y="2670048"/>
            <a:ext cx="5029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74336" y="25694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4528" y="28346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fiches .docx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→ input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397764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704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  Endpoint  /api/generate-fiches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3977640" cy="713232"/>
          </a:xfrm>
          <a:prstGeom prst="rect">
            <a:avLst/>
          </a:prstGeom>
          <a:solidFill>
            <a:srgbClr val="FFF5F5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19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6167"/>
                </a:solidFill>
              </a:rPr>
              <a:t>Entrées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  Fichier de recensement  </a:t>
            </a:r>
            <a:r>
              <a:rPr lang="en-US" sz="1000" b="1" dirty="0">
                <a:solidFill>
                  <a:srgbClr val="F96167"/>
                </a:solidFill>
              </a:rPr>
              <a:t>.xlsx</a:t>
            </a:r>
            <a:r>
              <a:rPr lang="en-US" sz="1000" dirty="0">
                <a:solidFill>
                  <a:srgbClr val="64748B"/>
                </a:solidFill>
              </a:rPr>
              <a:t>     +     </a:t>
            </a:r>
            <a:r>
              <a:rPr lang="en-US" sz="1000" b="1" dirty="0">
                <a:solidFill>
                  <a:srgbClr val="1E293B"/>
                </a:solidFill>
              </a:rPr>
              <a:t>Modèle Fiche BIA  </a:t>
            </a:r>
            <a:r>
              <a:rPr lang="en-US" sz="1000" b="1" dirty="0">
                <a:solidFill>
                  <a:srgbClr val="F96167"/>
                </a:solidFill>
              </a:rPr>
              <a:t>.docx  (v1.0 ou v2.0)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249631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GPT-4o Vision détecte le nom &amp; logo client depuis le fichier Excel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72384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" y="307238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Génération d'une fiche .docx par structure/département identifié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" y="364845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Toutes les fiches empaquetées : Fiches_BIA_&lt;Client&gt;_V2.0.zip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233672"/>
            <a:ext cx="397764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33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Sortie  →  ZIP  (N fiches .docx générées)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170432"/>
            <a:ext cx="3977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1704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  Endpoint  /api/process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92040" y="1691640"/>
            <a:ext cx="3977640" cy="713232"/>
          </a:xfrm>
          <a:prstGeom prst="rect">
            <a:avLst/>
          </a:prstGeom>
          <a:solidFill>
            <a:srgbClr val="F0FAF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719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Entrées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92024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  N Fiches BIA  </a:t>
            </a:r>
            <a:r>
              <a:rPr lang="en-US" sz="1000" b="1" dirty="0">
                <a:solidFill>
                  <a:srgbClr val="028090"/>
                </a:solidFill>
              </a:rPr>
              <a:t>.docx</a:t>
            </a:r>
            <a:r>
              <a:rPr lang="en-US" sz="1000" dirty="0">
                <a:solidFill>
                  <a:srgbClr val="64748B"/>
                </a:solidFill>
              </a:rPr>
              <a:t>     +     </a:t>
            </a:r>
            <a:r>
              <a:rPr lang="en-US" sz="1000" b="1" dirty="0">
                <a:solidFill>
                  <a:srgbClr val="1E293B"/>
                </a:solidFill>
              </a:rPr>
              <a:t>Template Synthèse  </a:t>
            </a:r>
            <a:r>
              <a:rPr lang="en-US" sz="1000" b="1" dirty="0">
                <a:solidFill>
                  <a:srgbClr val="028090"/>
                </a:solidFill>
              </a:rPr>
              <a:t>.xlsx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496312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0056" y="249631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bia_etl.extract() — lecture structurée de chaque fiche .docx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072384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0056" y="307238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bia_etl.load() — chargement séquentiel dans la Synthèse (accumulation fiche par fiche)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648456"/>
            <a:ext cx="39776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0056" y="364845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  Écrasement en place à chaque itération : la Synthèse s'enrichit progressivement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4233672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233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Sortie  →  Synthese_BIA_filled.xlsx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Ce que la Phase 1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automatisée apporte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Réduction du temps de collecte et de rédaction BIA de 60 à 70%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Rapports conformes aux standards réglementaires BCT dès la v1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Continuité et traçabilité des données entre sessions de travail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862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Collaboration fluide entre équipes Devoteam et équipes client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786384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Prochaine étape : Phase 2 — Stratégie de Continuité &amp; Choix des scénarios de contournement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600</Words>
  <Application>Microsoft Office PowerPoint</Application>
  <PresentationFormat>Affichage à l'écran (16:9)</PresentationFormat>
  <Paragraphs>101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PCA – Phase 1 Cadrage</dc:title>
  <dc:subject>PptxGenJS Presentation</dc:subject>
  <dc:creator>Devoteam IA Lab</dc:creator>
  <cp:lastModifiedBy>Jelassi HAMZA</cp:lastModifiedBy>
  <cp:revision>3</cp:revision>
  <dcterms:created xsi:type="dcterms:W3CDTF">2026-05-04T13:05:35Z</dcterms:created>
  <dcterms:modified xsi:type="dcterms:W3CDTF">2026-05-12T10:03:38Z</dcterms:modified>
</cp:coreProperties>
</file>